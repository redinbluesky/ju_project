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참조 문서: docs/00-input/원본-요구사항-RFP.md · QA ID: QA-000 · 자동화 테스트: 전체 스위트 개요 · 증거: 본 문서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참조 문서: docs/40-quality/테스트-결과.md · QA ID: [QA-번호] · 자동화 테스트: [테스트 파일/테스트명] · 증거: [스크린샷/API 응답/파일/DB 조회]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참조 문서: docs/40-quality/인수조건-체크리스트.md · QA ID: [QA-번호] · 자동화 테스트: [테스트 파일/테스트명] · 증거: [스크린샷/API 응답/파일/DB 조회]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참조 문서: docs/20-design/UX-화면-명세.md · QA ID: [QA-번호] · 자동화 테스트: [테스트 파일/테스트명] · 증거: [스크린샷/API 응답/파일/DB 조회]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참조 문서: docs/20-design/데이터-모델.md · QA ID: [QA-번호] · 자동화 테스트: [테스트 파일/테스트명] · 증거: [스크린샷/API 응답/파일/DB 조회]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참조 문서: docs/40-quality/인수조건-체크리스트.md · QA ID: [QA-번호] · 자동화 테스트: [테스트 파일/테스트명] · 증거: [스크린샷/API 응답/파일/DB 조회]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참조 문서: docs/20-design/시스템-설계.md · QA ID: [QA-번호] · 자동화 테스트: [테스트 파일/테스트명] · 증거: [스크린샷/API 응답/파일/DB 조회]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참조 문서: docs/20-design/데이터-모델.md · QA ID: [QA-번호] · 자동화 테스트: [테스트 파일/테스트명] · 증거: [스크린샷/API 응답/파일/DB 조회]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참조 문서: docs/20-design/UX-화면-명세.md · QA ID: [QA-번호] · 자동화 테스트: [테스트 파일/테스트명] · 증거: [스크린샷/API 응답/파일/DB 조회]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참조 문서: docs/20-design/UX-화면-명세.md · QA ID: [QA-번호] · 자동화 테스트: [테스트 파일/테스트명] · 증거: [스크린샷/API 응답/파일/DB 조회]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참조 문서: docs/20-design/데이터-모델.md · QA ID: [QA-번호] · 자동화 테스트: [테스트 파일/테스트명] · 증거: [스크린샷/API 응답/파일/DB 조회]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참조 문서: docs/20-design/데이터-모델.md · QA ID: [QA-번호] · 자동화 테스트: [테스트 파일/테스트명] · 증거: [스크린샷/API 응답/파일/DB 조회]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참조 문서: docs/20-design/데이터-모델.md · QA ID: [QA-번호] · 자동화 테스트: [테스트 파일/테스트명] · 증거: [스크린샷/API 응답/파일/DB 조회]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참조 문서: docs/40-quality/테스트-결과.md · QA ID: [QA-번호] · 자동화 테스트: [테스트 파일/테스트명] · 증거: [스크린샷/API 응답/파일/DB 조회]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참조 문서: docs/40-quality/결함-목록.md · QA ID: [QA-번호] · 자동화 테스트: [테스트 파일/테스트명] · 증거: [스크린샷/API 응답/파일/DB 조회]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참조 문서: docs/10-scope/1단계-기술-프로토타입-목표-범위-인수조건.md · QA ID: [QA-번호] · 자동화 테스트: 전체 스위트 종합 · 증거: 본 문서 및 부록 참조 목록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3238500"/>
            <a:ext cx="5222200" cy="342900"/>
          </a:xfrm>
          <a:prstGeom prst="roundRect">
            <a:avLst>
              <a:gd name="adj" fmla="val 50000"/>
            </a:avLst>
          </a:prstGeom>
          <a:solidFill>
            <a:srgbClr val="0066FF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1085850" y="3295650"/>
            <a:ext cx="5401520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lnSpc>
                <a:spcPct val="88235"/>
              </a:lnSpc>
              <a:buNone/>
            </a:pPr>
            <a:r>
              <a:rPr lang="en-US" sz="1800" b="1" spc="7" kern="0" dirty="0">
                <a:solidFill>
                  <a:srgbClr val="0054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1단계 기술 프로토타입 · 사용자 인수 테스트 가이드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3962400"/>
            <a:ext cx="18105120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223"/>
              </a:lnSpc>
              <a:buNone/>
            </a:pPr>
            <a:r>
              <a:rPr lang="en-US" sz="5400" b="1" spc="7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복지용구 위탁소독 시스템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914400" y="4819650"/>
            <a:ext cx="18105120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223"/>
              </a:lnSpc>
              <a:buNone/>
            </a:pPr>
            <a:r>
              <a:rPr lang="en-US" sz="5400" b="1" spc="7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사용자 인수 테스트 가이드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914400" y="5981700"/>
            <a:ext cx="1810512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6667"/>
              </a:lnSpc>
              <a:buNone/>
            </a:pPr>
            <a:r>
              <a:rPr lang="en-US" sz="2400" spc="7" kern="0" dirty="0">
                <a:solidFill>
                  <a:srgbClr val="37383C">
                    <a:alpha val="61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접수부터 배송완료까지의 업무 흐름 검증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14400" y="6819900"/>
            <a:ext cx="2587157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235"/>
              </a:lnSpc>
              <a:buNone/>
            </a:pPr>
            <a:r>
              <a:rPr lang="en-US" sz="1800" spc="7" kern="0" dirty="0">
                <a:solidFill>
                  <a:srgbClr val="37383C">
                    <a:alpha val="2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작성일: [YYYY-MM-DD]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571161" y="6819900"/>
            <a:ext cx="1762447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235"/>
              </a:lnSpc>
              <a:buNone/>
            </a:pPr>
            <a:r>
              <a:rPr lang="en-US" sz="1800" spc="7" kern="0" dirty="0">
                <a:solidFill>
                  <a:srgbClr val="37383C">
                    <a:alpha val="2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문서 버전: [v0.1]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78185" y="6819900"/>
            <a:ext cx="252809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235"/>
              </a:lnSpc>
              <a:buNone/>
            </a:pPr>
            <a:r>
              <a:rPr lang="en-US" sz="1800" spc="7" kern="0" dirty="0">
                <a:solidFill>
                  <a:srgbClr val="37383C">
                    <a:alpha val="2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작성자: Product Owner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005840"/>
            <a:ext cx="33230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235"/>
              </a:lnSpc>
              <a:buNone/>
            </a:pPr>
            <a:r>
              <a:rPr lang="en-US" sz="1800" b="1" spc="7" kern="0" dirty="0">
                <a:solidFill>
                  <a:srgbClr val="006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322903" y="723900"/>
            <a:ext cx="5479078" cy="6423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733"/>
              </a:lnSpc>
              <a:buNone/>
            </a:pPr>
            <a:r>
              <a:rPr lang="en-US" sz="3900" b="1" spc="7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테스트 목적과 현재 판정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914400" y="1632942"/>
            <a:ext cx="1466850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757"/>
              </a:lnSpc>
              <a:buNone/>
            </a:pPr>
            <a:r>
              <a:rPr lang="en-US" sz="1950" spc="7" kern="0" dirty="0">
                <a:solidFill>
                  <a:srgbClr val="2E2F33">
                    <a:alpha val="8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 문서는 홍보자료가 아니라, Product Owner가 실제 화면에서 하나씩 확인하며 결과를 기록하기 위한 실무 테스트 가이드입니다.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1219200" y="2766417"/>
            <a:ext cx="519684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235"/>
              </a:lnSpc>
              <a:buNone/>
            </a:pPr>
            <a:r>
              <a:rPr lang="en-US" sz="1800" b="1" spc="7" kern="0" dirty="0">
                <a:solidFill>
                  <a:srgbClr val="37383C">
                    <a:alpha val="61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자동화 테스트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19200" y="3147417"/>
            <a:ext cx="519684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6667"/>
              </a:lnSpc>
              <a:buNone/>
            </a:pPr>
            <a:r>
              <a:rPr lang="en-US" sz="2400" b="1" spc="7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[실제 테스트 수]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781800" y="2766417"/>
            <a:ext cx="519684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235"/>
              </a:lnSpc>
              <a:buNone/>
            </a:pPr>
            <a:r>
              <a:rPr lang="en-US" sz="1800" b="1" spc="7" kern="0" dirty="0">
                <a:solidFill>
                  <a:srgbClr val="37383C">
                    <a:alpha val="61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API·데이터 검증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781800" y="3147417"/>
            <a:ext cx="1746052" cy="342900"/>
          </a:xfrm>
          <a:prstGeom prst="roundRect">
            <a:avLst>
              <a:gd name="adj" fmla="val 50000"/>
            </a:avLst>
          </a:prstGeom>
          <a:solidFill>
            <a:srgbClr val="FF9E00">
              <a:alpha val="14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6953250" y="3204567"/>
            <a:ext cx="1577757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lnSpc>
                <a:spcPct val="88235"/>
              </a:lnSpc>
              <a:buNone/>
            </a:pPr>
            <a:r>
              <a:rPr lang="en-US" sz="1800" b="1" spc="7" kern="0" dirty="0">
                <a:solidFill>
                  <a:srgbClr val="FF9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[통과 / 조건부]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2039600" y="2461617"/>
            <a:ext cx="5334000" cy="1333500"/>
          </a:xfrm>
          <a:prstGeom prst="roundRect">
            <a:avLst>
              <a:gd name="adj" fmla="val 8571"/>
            </a:avLst>
          </a:prstGeom>
          <a:solidFill>
            <a:srgbClr val="0066FF">
              <a:alpha val="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2344400" y="2766417"/>
            <a:ext cx="519684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235"/>
              </a:lnSpc>
              <a:buNone/>
            </a:pPr>
            <a:r>
              <a:rPr lang="en-US" sz="1800" b="1" spc="7" kern="0" dirty="0">
                <a:solidFill>
                  <a:srgbClr val="0054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현재 품질 판정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2344400" y="3147417"/>
            <a:ext cx="3821668" cy="342900"/>
          </a:xfrm>
          <a:prstGeom prst="roundRect">
            <a:avLst>
              <a:gd name="adj" fmla="val 50000"/>
            </a:avLst>
          </a:prstGeom>
          <a:solidFill>
            <a:srgbClr val="0066FF">
              <a:alpha val="14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2515850" y="3204567"/>
            <a:ext cx="3860935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lnSpc>
                <a:spcPct val="88235"/>
              </a:lnSpc>
              <a:buNone/>
            </a:pPr>
            <a:r>
              <a:rPr lang="en-US" sz="1800" b="1" spc="7" kern="0" dirty="0">
                <a:solidFill>
                  <a:srgbClr val="0054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[출시 가능 / 조건부 가능 / 출시 불가]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914400" y="9345930"/>
            <a:ext cx="16459200" cy="9525"/>
          </a:xfrm>
          <a:prstGeom prst="rect">
            <a:avLst/>
          </a:prstGeom>
          <a:solidFill>
            <a:srgbClr val="F4F4F5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9525000"/>
            <a:ext cx="2283309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235"/>
              </a:lnSpc>
              <a:buNone/>
            </a:pPr>
            <a:r>
              <a:rPr lang="en-US" sz="1800" spc="7" kern="0" dirty="0">
                <a:solidFill>
                  <a:srgbClr val="37383C">
                    <a:alpha val="2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참조 문서: [문서 경로]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256836" y="9525000"/>
            <a:ext cx="1873377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235"/>
              </a:lnSpc>
              <a:buNone/>
            </a:pPr>
            <a:r>
              <a:rPr lang="en-US" sz="1800" spc="7" kern="0" dirty="0">
                <a:solidFill>
                  <a:srgbClr val="37383C">
                    <a:alpha val="2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 ID: [QA-번호]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226606" y="9525000"/>
            <a:ext cx="3980271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235"/>
              </a:lnSpc>
              <a:buNone/>
            </a:pPr>
            <a:r>
              <a:rPr lang="en-US" sz="1800" spc="7" kern="0" dirty="0">
                <a:solidFill>
                  <a:srgbClr val="37383C">
                    <a:alpha val="2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자동화 테스트: [테스트 파일/테스트명]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111734" y="9525000"/>
            <a:ext cx="418445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235"/>
              </a:lnSpc>
              <a:buNone/>
            </a:pPr>
            <a:r>
              <a:rPr lang="en-US" sz="1800" spc="7" kern="0" dirty="0">
                <a:solidFill>
                  <a:srgbClr val="37383C">
                    <a:alpha val="2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증거: [스크린샷/API 응답/파일/DB 조회]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005840"/>
            <a:ext cx="33230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235"/>
              </a:lnSpc>
              <a:buNone/>
            </a:pPr>
            <a:r>
              <a:rPr lang="en-US" sz="1800" b="1" spc="7" kern="0" dirty="0">
                <a:solidFill>
                  <a:srgbClr val="006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322903" y="723900"/>
            <a:ext cx="2663380" cy="6423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733"/>
              </a:lnSpc>
              <a:buNone/>
            </a:pPr>
            <a:r>
              <a:rPr lang="en-US" sz="3900" b="1" spc="7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테스트 준비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1143000" y="1861542"/>
            <a:ext cx="4191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81081"/>
              </a:lnSpc>
              <a:buNone/>
            </a:pPr>
            <a:r>
              <a:rPr lang="en-US" sz="1950" spc="7" kern="0" dirty="0">
                <a:solidFill>
                  <a:srgbClr val="37383C">
                    <a:alpha val="2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1752600" y="1918692"/>
            <a:ext cx="208934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081"/>
              </a:lnSpc>
              <a:buNone/>
            </a:pPr>
            <a:r>
              <a:rPr lang="en-US" sz="1950" spc="7" kern="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애플리케이션 실행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143000" y="2852142"/>
            <a:ext cx="4191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81081"/>
              </a:lnSpc>
              <a:buNone/>
            </a:pPr>
            <a:r>
              <a:rPr lang="en-US" sz="1950" spc="7" kern="0" dirty="0">
                <a:solidFill>
                  <a:srgbClr val="37383C">
                    <a:alpha val="2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752600" y="2909292"/>
            <a:ext cx="158616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081"/>
              </a:lnSpc>
              <a:buNone/>
            </a:pPr>
            <a:r>
              <a:rPr lang="en-US" sz="1950" spc="7" kern="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브라우저 실행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143000" y="3842742"/>
            <a:ext cx="4191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81081"/>
              </a:lnSpc>
              <a:buNone/>
            </a:pPr>
            <a:r>
              <a:rPr lang="en-US" sz="1950" spc="7" kern="0" dirty="0">
                <a:solidFill>
                  <a:srgbClr val="37383C">
                    <a:alpha val="2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752600" y="3899892"/>
            <a:ext cx="2165961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081"/>
              </a:lnSpc>
              <a:buNone/>
            </a:pPr>
            <a:r>
              <a:rPr lang="en-US" sz="1950" spc="7" kern="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테스트 데이터 준비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143000" y="4833342"/>
            <a:ext cx="4191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81081"/>
              </a:lnSpc>
              <a:buNone/>
            </a:pPr>
            <a:r>
              <a:rPr lang="en-US" sz="1950" spc="7" kern="0" dirty="0">
                <a:solidFill>
                  <a:srgbClr val="37383C">
                    <a:alpha val="2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1752600" y="4890492"/>
            <a:ext cx="2165961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081"/>
              </a:lnSpc>
              <a:buNone/>
            </a:pPr>
            <a:r>
              <a:rPr lang="en-US" sz="1950" spc="7" kern="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다운로드 폴더 준비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914400" y="5595342"/>
            <a:ext cx="11430000" cy="800100"/>
          </a:xfrm>
          <a:prstGeom prst="roundRect">
            <a:avLst>
              <a:gd name="adj" fmla="val 14286"/>
            </a:avLst>
          </a:prstGeom>
          <a:solidFill>
            <a:srgbClr val="FF4242">
              <a:alpha val="6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143000" y="5823942"/>
            <a:ext cx="4191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81081"/>
              </a:lnSpc>
              <a:buNone/>
            </a:pPr>
            <a:r>
              <a:rPr lang="en-US" sz="1950" spc="7" kern="0" dirty="0">
                <a:solidFill>
                  <a:srgbClr val="FF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752600" y="5881092"/>
            <a:ext cx="326400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081"/>
              </a:lnSpc>
              <a:buNone/>
            </a:pPr>
            <a:r>
              <a:rPr lang="en-US" sz="1950" b="1" spc="7" kern="0" dirty="0">
                <a:solidFill>
                  <a:srgbClr val="FF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개인정보·자격증명 사용 금지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914400" y="9345930"/>
            <a:ext cx="16459200" cy="9525"/>
          </a:xfrm>
          <a:prstGeom prst="rect">
            <a:avLst/>
          </a:prstGeom>
          <a:solidFill>
            <a:srgbClr val="F4F4F5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9525000"/>
            <a:ext cx="2283309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235"/>
              </a:lnSpc>
              <a:buNone/>
            </a:pPr>
            <a:r>
              <a:rPr lang="en-US" sz="1800" spc="7" kern="0" dirty="0">
                <a:solidFill>
                  <a:srgbClr val="37383C">
                    <a:alpha val="2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참조 문서: [문서 경로]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256836" y="9525000"/>
            <a:ext cx="1873377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235"/>
              </a:lnSpc>
              <a:buNone/>
            </a:pPr>
            <a:r>
              <a:rPr lang="en-US" sz="1800" spc="7" kern="0" dirty="0">
                <a:solidFill>
                  <a:srgbClr val="37383C">
                    <a:alpha val="2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 ID: [QA-번호]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226606" y="9525000"/>
            <a:ext cx="3980271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235"/>
              </a:lnSpc>
              <a:buNone/>
            </a:pPr>
            <a:r>
              <a:rPr lang="en-US" sz="1800" spc="7" kern="0" dirty="0">
                <a:solidFill>
                  <a:srgbClr val="37383C">
                    <a:alpha val="2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자동화 테스트: [테스트 파일/테스트명]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111734" y="9525000"/>
            <a:ext cx="418445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235"/>
              </a:lnSpc>
              <a:buNone/>
            </a:pPr>
            <a:r>
              <a:rPr lang="en-US" sz="1800" spc="7" kern="0" dirty="0">
                <a:solidFill>
                  <a:srgbClr val="37383C">
                    <a:alpha val="2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증거: [스크린샷/API 응답/파일/DB 조회]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005840"/>
            <a:ext cx="33230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235"/>
              </a:lnSpc>
              <a:buNone/>
            </a:pPr>
            <a:r>
              <a:rPr lang="en-US" sz="1800" b="1" spc="7" kern="0" dirty="0">
                <a:solidFill>
                  <a:srgbClr val="006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322903" y="723900"/>
            <a:ext cx="3820097" cy="6423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733"/>
              </a:lnSpc>
              <a:buNone/>
            </a:pPr>
            <a:r>
              <a:rPr lang="en-US" sz="3900" b="1" spc="7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전체 테스트 흐름</a:t>
            </a:r>
            <a:endParaRPr lang="en-US" sz="3900" dirty="0"/>
          </a:p>
        </p:txBody>
      </p:sp>
      <p:sp>
        <p:nvSpPr>
          <p:cNvPr id="4" name="Shape 2"/>
          <p:cNvSpPr/>
          <p:nvPr/>
        </p:nvSpPr>
        <p:spPr>
          <a:xfrm>
            <a:off x="914400" y="1490067"/>
            <a:ext cx="133350" cy="133350"/>
          </a:xfrm>
          <a:prstGeom prst="ellipse">
            <a:avLst/>
          </a:prstGeom>
          <a:solidFill>
            <a:srgbClr val="00BF40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1442442"/>
            <a:ext cx="49863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235"/>
              </a:lnSpc>
              <a:buNone/>
            </a:pPr>
            <a:r>
              <a:rPr lang="en-US" sz="1800" spc="7" kern="0" dirty="0">
                <a:solidFill>
                  <a:srgbClr val="37383C">
                    <a:alpha val="61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완료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794034" y="1490067"/>
            <a:ext cx="133350" cy="133350"/>
          </a:xfrm>
          <a:prstGeom prst="ellipse">
            <a:avLst/>
          </a:prstGeom>
          <a:solidFill>
            <a:srgbClr val="0066FF"/>
          </a:solidFill>
          <a:ln/>
        </p:spPr>
      </p:sp>
      <p:sp>
        <p:nvSpPr>
          <p:cNvPr id="7" name="Text 5"/>
          <p:cNvSpPr/>
          <p:nvPr/>
        </p:nvSpPr>
        <p:spPr>
          <a:xfrm>
            <a:off x="2022634" y="1442442"/>
            <a:ext cx="77414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235"/>
              </a:lnSpc>
              <a:buNone/>
            </a:pPr>
            <a:r>
              <a:rPr lang="en-US" sz="1800" spc="7" kern="0" dirty="0">
                <a:solidFill>
                  <a:srgbClr val="37383C">
                    <a:alpha val="61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진행 중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949178" y="1490067"/>
            <a:ext cx="133350" cy="133350"/>
          </a:xfrm>
          <a:prstGeom prst="ellipse">
            <a:avLst/>
          </a:prstGeom>
          <a:solidFill>
            <a:srgbClr val="AEB0B6"/>
          </a:solidFill>
          <a:ln/>
        </p:spPr>
      </p:sp>
      <p:sp>
        <p:nvSpPr>
          <p:cNvPr id="9" name="Text 7"/>
          <p:cNvSpPr/>
          <p:nvPr/>
        </p:nvSpPr>
        <p:spPr>
          <a:xfrm>
            <a:off x="3177778" y="1442442"/>
            <a:ext cx="709851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235"/>
              </a:lnSpc>
              <a:buNone/>
            </a:pPr>
            <a:r>
              <a:rPr lang="en-US" sz="1800" spc="7" kern="0" dirty="0">
                <a:solidFill>
                  <a:srgbClr val="37383C">
                    <a:alpha val="61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미검증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14400" y="5293162"/>
            <a:ext cx="1252061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1085850" y="5350312"/>
            <a:ext cx="1034367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lnSpc>
                <a:spcPct val="88235"/>
              </a:lnSpc>
              <a:buNone/>
            </a:pPr>
            <a:r>
              <a:rPr lang="en-US" sz="1800" b="1" spc="7" kern="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접수 생성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299811" y="5350312"/>
            <a:ext cx="32480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081"/>
              </a:lnSpc>
              <a:buNone/>
            </a:pPr>
            <a:r>
              <a:rPr lang="en-US" sz="1950" spc="7" kern="0" dirty="0">
                <a:solidFill>
                  <a:srgbClr val="37383C">
                    <a:alpha val="2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2681764" y="5293162"/>
            <a:ext cx="1738789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2853214" y="5350312"/>
            <a:ext cx="1569768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lnSpc>
                <a:spcPct val="88235"/>
              </a:lnSpc>
              <a:buNone/>
            </a:pPr>
            <a:r>
              <a:rPr lang="en-US" sz="1800" b="1" spc="7" kern="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입력 오류 검증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553903" y="5350312"/>
            <a:ext cx="32480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081"/>
              </a:lnSpc>
              <a:buNone/>
            </a:pPr>
            <a:r>
              <a:rPr lang="en-US" sz="1950" spc="7" kern="0" dirty="0">
                <a:solidFill>
                  <a:srgbClr val="37383C">
                    <a:alpha val="2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4935855" y="5293162"/>
            <a:ext cx="1252061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5107305" y="5350312"/>
            <a:ext cx="1034367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lnSpc>
                <a:spcPct val="88235"/>
              </a:lnSpc>
              <a:buNone/>
            </a:pPr>
            <a:r>
              <a:rPr lang="en-US" sz="1800" b="1" spc="7" kern="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접수 수정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321266" y="5350312"/>
            <a:ext cx="32480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081"/>
              </a:lnSpc>
              <a:buNone/>
            </a:pPr>
            <a:r>
              <a:rPr lang="en-US" sz="1950" spc="7" kern="0" dirty="0">
                <a:solidFill>
                  <a:srgbClr val="37383C">
                    <a:alpha val="2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6703219" y="5293162"/>
            <a:ext cx="1187648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6874669" y="5350312"/>
            <a:ext cx="963513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lnSpc>
                <a:spcPct val="88235"/>
              </a:lnSpc>
              <a:buNone/>
            </a:pPr>
            <a:r>
              <a:rPr lang="en-US" sz="1800" b="1" spc="7" kern="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수거완료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024217" y="5350312"/>
            <a:ext cx="32480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081"/>
              </a:lnSpc>
              <a:buNone/>
            </a:pPr>
            <a:r>
              <a:rPr lang="en-US" sz="1950" spc="7" kern="0" dirty="0">
                <a:solidFill>
                  <a:srgbClr val="37383C">
                    <a:alpha val="2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950" dirty="0"/>
          </a:p>
        </p:txBody>
      </p:sp>
      <p:sp>
        <p:nvSpPr>
          <p:cNvPr id="22" name="Shape 20"/>
          <p:cNvSpPr/>
          <p:nvPr/>
        </p:nvSpPr>
        <p:spPr>
          <a:xfrm>
            <a:off x="8406170" y="5293162"/>
            <a:ext cx="1187648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8577620" y="5350312"/>
            <a:ext cx="963513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lnSpc>
                <a:spcPct val="88235"/>
              </a:lnSpc>
              <a:buNone/>
            </a:pPr>
            <a:r>
              <a:rPr lang="en-US" sz="1800" b="1" spc="7" kern="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소독완료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727168" y="5350312"/>
            <a:ext cx="32480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081"/>
              </a:lnSpc>
              <a:buNone/>
            </a:pPr>
            <a:r>
              <a:rPr lang="en-US" sz="1950" spc="7" kern="0" dirty="0">
                <a:solidFill>
                  <a:srgbClr val="37383C">
                    <a:alpha val="2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950" dirty="0"/>
          </a:p>
        </p:txBody>
      </p:sp>
      <p:sp>
        <p:nvSpPr>
          <p:cNvPr id="25" name="Shape 23"/>
          <p:cNvSpPr/>
          <p:nvPr/>
        </p:nvSpPr>
        <p:spPr>
          <a:xfrm>
            <a:off x="10109121" y="5293162"/>
            <a:ext cx="1711881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10280571" y="5350312"/>
            <a:ext cx="1540169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lnSpc>
                <a:spcPct val="88235"/>
              </a:lnSpc>
              <a:buNone/>
            </a:pPr>
            <a:r>
              <a:rPr lang="en-US" sz="1800" b="1" spc="7" kern="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 다운로드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914400" y="5864662"/>
            <a:ext cx="1187648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1085850" y="5921812"/>
            <a:ext cx="963513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lnSpc>
                <a:spcPct val="88235"/>
              </a:lnSpc>
              <a:buNone/>
            </a:pPr>
            <a:r>
              <a:rPr lang="en-US" sz="1800" b="1" spc="7" kern="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배송완료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2235398" y="5921812"/>
            <a:ext cx="32480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081"/>
              </a:lnSpc>
              <a:buNone/>
            </a:pPr>
            <a:r>
              <a:rPr lang="en-US" sz="1950" spc="7" kern="0" dirty="0">
                <a:solidFill>
                  <a:srgbClr val="37383C">
                    <a:alpha val="2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950" dirty="0"/>
          </a:p>
        </p:txBody>
      </p:sp>
      <p:sp>
        <p:nvSpPr>
          <p:cNvPr id="30" name="Shape 28"/>
          <p:cNvSpPr/>
          <p:nvPr/>
        </p:nvSpPr>
        <p:spPr>
          <a:xfrm>
            <a:off x="2617351" y="5864662"/>
            <a:ext cx="1264682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2788801" y="5921812"/>
            <a:ext cx="1048250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lnSpc>
                <a:spcPct val="88235"/>
              </a:lnSpc>
              <a:buNone/>
            </a:pPr>
            <a:r>
              <a:rPr lang="en-US" sz="1800" b="1" spc="7" kern="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목록·필터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4015383" y="5921812"/>
            <a:ext cx="32480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081"/>
              </a:lnSpc>
              <a:buNone/>
            </a:pPr>
            <a:r>
              <a:rPr lang="en-US" sz="1950" spc="7" kern="0" dirty="0">
                <a:solidFill>
                  <a:srgbClr val="37383C">
                    <a:alpha val="2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950" dirty="0"/>
          </a:p>
        </p:txBody>
      </p:sp>
      <p:sp>
        <p:nvSpPr>
          <p:cNvPr id="33" name="Shape 31"/>
          <p:cNvSpPr/>
          <p:nvPr/>
        </p:nvSpPr>
        <p:spPr>
          <a:xfrm>
            <a:off x="4397335" y="5864662"/>
            <a:ext cx="765334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4568785" y="5921812"/>
            <a:ext cx="498967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lnSpc>
                <a:spcPct val="88235"/>
              </a:lnSpc>
              <a:buNone/>
            </a:pPr>
            <a:r>
              <a:rPr lang="en-US" sz="1800" b="1" spc="7" kern="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통계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5296019" y="5921812"/>
            <a:ext cx="32480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081"/>
              </a:lnSpc>
              <a:buNone/>
            </a:pPr>
            <a:r>
              <a:rPr lang="en-US" sz="1950" spc="7" kern="0" dirty="0">
                <a:solidFill>
                  <a:srgbClr val="37383C">
                    <a:alpha val="2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950" dirty="0"/>
          </a:p>
        </p:txBody>
      </p:sp>
      <p:sp>
        <p:nvSpPr>
          <p:cNvPr id="36" name="Shape 34"/>
          <p:cNvSpPr/>
          <p:nvPr/>
        </p:nvSpPr>
        <p:spPr>
          <a:xfrm>
            <a:off x="5677971" y="5864662"/>
            <a:ext cx="765334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37" name="Text 35"/>
          <p:cNvSpPr/>
          <p:nvPr/>
        </p:nvSpPr>
        <p:spPr>
          <a:xfrm>
            <a:off x="5849421" y="5921812"/>
            <a:ext cx="498967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lnSpc>
                <a:spcPct val="88235"/>
              </a:lnSpc>
              <a:buNone/>
            </a:pPr>
            <a:r>
              <a:rPr lang="en-US" sz="1800" b="1" spc="7" kern="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엑셀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6576656" y="5921812"/>
            <a:ext cx="32480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081"/>
              </a:lnSpc>
              <a:buNone/>
            </a:pPr>
            <a:r>
              <a:rPr lang="en-US" sz="1950" spc="7" kern="0" dirty="0">
                <a:solidFill>
                  <a:srgbClr val="37383C">
                    <a:alpha val="2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950" dirty="0"/>
          </a:p>
        </p:txBody>
      </p:sp>
      <p:sp>
        <p:nvSpPr>
          <p:cNvPr id="39" name="Shape 37"/>
          <p:cNvSpPr/>
          <p:nvPr/>
        </p:nvSpPr>
        <p:spPr>
          <a:xfrm>
            <a:off x="6958608" y="5864662"/>
            <a:ext cx="1738789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40" name="Text 38"/>
          <p:cNvSpPr/>
          <p:nvPr/>
        </p:nvSpPr>
        <p:spPr>
          <a:xfrm>
            <a:off x="7130058" y="5921812"/>
            <a:ext cx="1569768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lnSpc>
                <a:spcPct val="88235"/>
              </a:lnSpc>
              <a:buNone/>
            </a:pPr>
            <a:r>
              <a:rPr lang="en-US" sz="1800" b="1" spc="7" kern="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재시작 후 보존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914400" y="9525000"/>
            <a:ext cx="1810512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235"/>
              </a:lnSpc>
              <a:buNone/>
            </a:pPr>
            <a:r>
              <a:rPr lang="en-US" sz="1800" spc="7" kern="0" dirty="0">
                <a:solidFill>
                  <a:srgbClr val="37383C">
                    <a:alpha val="2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단계별 실제 판정은 각 테스트 슬라이드의 실행 결과로 기록합니다. 위 색상은 기록 규칙이며, 현재 상태는 미확정입니다.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005840"/>
            <a:ext cx="33230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235"/>
              </a:lnSpc>
              <a:buNone/>
            </a:pPr>
            <a:r>
              <a:rPr lang="en-US" sz="1800" b="1" spc="7" kern="0" dirty="0">
                <a:solidFill>
                  <a:srgbClr val="006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322903" y="723900"/>
            <a:ext cx="3317963" cy="6423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733"/>
              </a:lnSpc>
              <a:buNone/>
            </a:pPr>
            <a:r>
              <a:rPr lang="en-US" sz="3900" b="1" spc="7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정상 접수 생성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914400" y="1617702"/>
            <a:ext cx="498634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235"/>
              </a:lnSpc>
              <a:buNone/>
            </a:pPr>
            <a:r>
              <a:rPr lang="en-US" sz="1800" b="1" spc="7" kern="0" dirty="0">
                <a:solidFill>
                  <a:srgbClr val="37383C">
                    <a:alpha val="61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입력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43000" y="2265402"/>
            <a:ext cx="782307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081"/>
              </a:lnSpc>
              <a:buNone/>
            </a:pPr>
            <a:r>
              <a:rPr lang="en-US" sz="1950" spc="7" kern="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사업소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143000" y="3027402"/>
            <a:ext cx="782307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081"/>
              </a:lnSpc>
              <a:buNone/>
            </a:pPr>
            <a:r>
              <a:rPr lang="en-US" sz="1950" spc="7" kern="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수거 희망일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143000" y="3789402"/>
            <a:ext cx="782307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081"/>
              </a:lnSpc>
              <a:buNone/>
            </a:pPr>
            <a:r>
              <a:rPr lang="en-US" sz="1950" spc="7" kern="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수거 장소 유형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143000" y="4551402"/>
            <a:ext cx="782307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081"/>
              </a:lnSpc>
              <a:buNone/>
            </a:pPr>
            <a:r>
              <a:rPr lang="en-US" sz="1950" spc="7" kern="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주소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143000" y="5313402"/>
            <a:ext cx="782307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081"/>
              </a:lnSpc>
              <a:buNone/>
            </a:pPr>
            <a:r>
              <a:rPr lang="en-US" sz="1950" spc="7" kern="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품목별 수량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9334500" y="1617702"/>
            <a:ext cx="985361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235"/>
              </a:lnSpc>
              <a:buNone/>
            </a:pPr>
            <a:r>
              <a:rPr lang="en-US" sz="1800" b="1" spc="7" kern="0" dirty="0">
                <a:solidFill>
                  <a:srgbClr val="0054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기대 결과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334500" y="2074902"/>
            <a:ext cx="8039100" cy="609600"/>
          </a:xfrm>
          <a:prstGeom prst="roundRect">
            <a:avLst>
              <a:gd name="adj" fmla="val 18750"/>
            </a:avLst>
          </a:prstGeom>
          <a:solidFill>
            <a:srgbClr val="0066FF">
              <a:alpha val="5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9563100" y="2265402"/>
            <a:ext cx="782307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081"/>
              </a:lnSpc>
              <a:buNone/>
            </a:pPr>
            <a:r>
              <a:rPr lang="en-US" sz="1950" spc="7" kern="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접수번호 생성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9334500" y="2836902"/>
            <a:ext cx="8039100" cy="609600"/>
          </a:xfrm>
          <a:prstGeom prst="roundRect">
            <a:avLst>
              <a:gd name="adj" fmla="val 18750"/>
            </a:avLst>
          </a:prstGeom>
          <a:solidFill>
            <a:srgbClr val="0066FF">
              <a:alpha val="5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9563100" y="3027402"/>
            <a:ext cx="782307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081"/>
              </a:lnSpc>
              <a:buNone/>
            </a:pPr>
            <a:r>
              <a:rPr lang="en-US" sz="1950" spc="7" kern="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RECEIVED 상태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9334500" y="3598902"/>
            <a:ext cx="8039100" cy="609600"/>
          </a:xfrm>
          <a:prstGeom prst="roundRect">
            <a:avLst>
              <a:gd name="adj" fmla="val 18750"/>
            </a:avLst>
          </a:prstGeom>
          <a:solidFill>
            <a:srgbClr val="0066FF">
              <a:alpha val="5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9563100" y="3789402"/>
            <a:ext cx="782307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081"/>
              </a:lnSpc>
              <a:buNone/>
            </a:pPr>
            <a:r>
              <a:rPr lang="en-US" sz="1950" spc="7" kern="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생성 시각 기록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9334500" y="4360902"/>
            <a:ext cx="8039100" cy="609600"/>
          </a:xfrm>
          <a:prstGeom prst="roundRect">
            <a:avLst>
              <a:gd name="adj" fmla="val 18750"/>
            </a:avLst>
          </a:prstGeom>
          <a:solidFill>
            <a:srgbClr val="0066FF">
              <a:alpha val="5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9563100" y="4551402"/>
            <a:ext cx="782307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081"/>
              </a:lnSpc>
              <a:buNone/>
            </a:pPr>
            <a:r>
              <a:rPr lang="en-US" sz="1950" spc="7" kern="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최초 상태 이력 생성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914400" y="9345930"/>
            <a:ext cx="16459200" cy="9525"/>
          </a:xfrm>
          <a:prstGeom prst="rect">
            <a:avLst/>
          </a:prstGeom>
          <a:solidFill>
            <a:srgbClr val="F4F4F5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9525000"/>
            <a:ext cx="2283309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235"/>
              </a:lnSpc>
              <a:buNone/>
            </a:pPr>
            <a:r>
              <a:rPr lang="en-US" sz="1800" spc="7" kern="0" dirty="0">
                <a:solidFill>
                  <a:srgbClr val="37383C">
                    <a:alpha val="2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참조 문서: [문서 경로]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3256836" y="9525000"/>
            <a:ext cx="1873377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235"/>
              </a:lnSpc>
              <a:buNone/>
            </a:pPr>
            <a:r>
              <a:rPr lang="en-US" sz="1800" spc="7" kern="0" dirty="0">
                <a:solidFill>
                  <a:srgbClr val="37383C">
                    <a:alpha val="2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 ID: [QA-번호]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226606" y="9525000"/>
            <a:ext cx="3980271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235"/>
              </a:lnSpc>
              <a:buNone/>
            </a:pPr>
            <a:r>
              <a:rPr lang="en-US" sz="1800" spc="7" kern="0" dirty="0">
                <a:solidFill>
                  <a:srgbClr val="37383C">
                    <a:alpha val="2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자동화 테스트: [테스트 파일/테스트명]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111734" y="9525000"/>
            <a:ext cx="418445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235"/>
              </a:lnSpc>
              <a:buNone/>
            </a:pPr>
            <a:r>
              <a:rPr lang="en-US" sz="1800" spc="7" kern="0" dirty="0">
                <a:solidFill>
                  <a:srgbClr val="37383C">
                    <a:alpha val="2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증거: [스크린샷/API 응답/파일/DB 조회]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005840"/>
            <a:ext cx="33230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235"/>
              </a:lnSpc>
              <a:buNone/>
            </a:pPr>
            <a:r>
              <a:rPr lang="en-US" sz="1800" b="1" spc="7" kern="0" dirty="0">
                <a:solidFill>
                  <a:srgbClr val="006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322903" y="723900"/>
            <a:ext cx="3317963" cy="6423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733"/>
              </a:lnSpc>
              <a:buNone/>
            </a:pPr>
            <a:r>
              <a:rPr lang="en-US" sz="3900" b="1" spc="7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입력 오류 검증</a:t>
            </a:r>
            <a:endParaRPr lang="en-US" sz="3900" dirty="0"/>
          </a:p>
        </p:txBody>
      </p:sp>
      <p:sp>
        <p:nvSpPr>
          <p:cNvPr id="4" name="Shape 2"/>
          <p:cNvSpPr/>
          <p:nvPr/>
        </p:nvSpPr>
        <p:spPr>
          <a:xfrm>
            <a:off x="914400" y="1632942"/>
            <a:ext cx="16459200" cy="571500"/>
          </a:xfrm>
          <a:prstGeom prst="rect">
            <a:avLst/>
          </a:prstGeom>
          <a:solidFill>
            <a:srgbClr val="70737C">
              <a:alpha val="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181100" y="1804392"/>
            <a:ext cx="794308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235"/>
              </a:lnSpc>
              <a:buNone/>
            </a:pPr>
            <a:r>
              <a:rPr lang="en-US" sz="1800" b="1" spc="7" kern="0" dirty="0">
                <a:solidFill>
                  <a:srgbClr val="37383C">
                    <a:alpha val="61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입력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410700" y="1804392"/>
            <a:ext cx="370484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235"/>
              </a:lnSpc>
              <a:buNone/>
            </a:pPr>
            <a:r>
              <a:rPr lang="en-US" sz="1800" b="1" spc="7" kern="0" dirty="0">
                <a:solidFill>
                  <a:srgbClr val="37383C">
                    <a:alpha val="61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기대 응답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525500" y="1804392"/>
            <a:ext cx="370484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235"/>
              </a:lnSpc>
              <a:buNone/>
            </a:pPr>
            <a:r>
              <a:rPr lang="en-US" sz="1800" b="1" spc="7" kern="0" dirty="0">
                <a:solidFill>
                  <a:srgbClr val="37383C">
                    <a:alpha val="61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저장 여부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14400" y="2204442"/>
            <a:ext cx="16459200" cy="9525"/>
          </a:xfrm>
          <a:prstGeom prst="rect">
            <a:avLst/>
          </a:prstGeom>
          <a:solidFill>
            <a:srgbClr val="F4F4F5"/>
          </a:solidFill>
          <a:ln/>
        </p:spPr>
      </p:sp>
      <p:sp>
        <p:nvSpPr>
          <p:cNvPr id="9" name="Text 7"/>
          <p:cNvSpPr/>
          <p:nvPr/>
        </p:nvSpPr>
        <p:spPr>
          <a:xfrm>
            <a:off x="1181100" y="2421612"/>
            <a:ext cx="794308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081"/>
              </a:lnSpc>
              <a:buNone/>
            </a:pPr>
            <a:r>
              <a:rPr lang="en-US" sz="1950" spc="7" kern="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모든 품목 수량 0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9410700" y="2421612"/>
            <a:ext cx="370484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081"/>
              </a:lnSpc>
              <a:buNone/>
            </a:pPr>
            <a:r>
              <a:rPr lang="en-US" sz="1950" b="1" spc="7" kern="0" dirty="0">
                <a:solidFill>
                  <a:srgbClr val="FF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422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13525500" y="2421612"/>
            <a:ext cx="370484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081"/>
              </a:lnSpc>
              <a:buNone/>
            </a:pPr>
            <a:r>
              <a:rPr lang="en-US" sz="1950" spc="7" kern="0" dirty="0">
                <a:solidFill>
                  <a:srgbClr val="37383C">
                    <a:alpha val="61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저장 안 됨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914400" y="2859762"/>
            <a:ext cx="16459200" cy="9525"/>
          </a:xfrm>
          <a:prstGeom prst="rect">
            <a:avLst/>
          </a:prstGeom>
          <a:solidFill>
            <a:srgbClr val="F4F4F5"/>
          </a:solidFill>
          <a:ln/>
        </p:spPr>
      </p:sp>
      <p:sp>
        <p:nvSpPr>
          <p:cNvPr id="13" name="Text 11"/>
          <p:cNvSpPr/>
          <p:nvPr/>
        </p:nvSpPr>
        <p:spPr>
          <a:xfrm>
            <a:off x="1181100" y="3076932"/>
            <a:ext cx="794308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081"/>
              </a:lnSpc>
              <a:buNone/>
            </a:pPr>
            <a:r>
              <a:rPr lang="en-US" sz="1950" spc="7" kern="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음수 수량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9410700" y="3076932"/>
            <a:ext cx="370484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081"/>
              </a:lnSpc>
              <a:buNone/>
            </a:pPr>
            <a:r>
              <a:rPr lang="en-US" sz="1950" b="1" spc="7" kern="0" dirty="0">
                <a:solidFill>
                  <a:srgbClr val="FF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422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13525500" y="3076932"/>
            <a:ext cx="370484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081"/>
              </a:lnSpc>
              <a:buNone/>
            </a:pPr>
            <a:r>
              <a:rPr lang="en-US" sz="1950" spc="7" kern="0" dirty="0">
                <a:solidFill>
                  <a:srgbClr val="37383C">
                    <a:alpha val="61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저장 안 됨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914400" y="3515082"/>
            <a:ext cx="16459200" cy="9525"/>
          </a:xfrm>
          <a:prstGeom prst="rect">
            <a:avLst/>
          </a:prstGeom>
          <a:solidFill>
            <a:srgbClr val="F4F4F5"/>
          </a:solidFill>
          <a:ln/>
        </p:spPr>
      </p:sp>
      <p:sp>
        <p:nvSpPr>
          <p:cNvPr id="17" name="Text 15"/>
          <p:cNvSpPr/>
          <p:nvPr/>
        </p:nvSpPr>
        <p:spPr>
          <a:xfrm>
            <a:off x="1181100" y="3732252"/>
            <a:ext cx="794308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081"/>
              </a:lnSpc>
              <a:buNone/>
            </a:pPr>
            <a:r>
              <a:rPr lang="en-US" sz="1950" spc="7" kern="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소수 / 문자열 수량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9410700" y="3732252"/>
            <a:ext cx="370484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081"/>
              </a:lnSpc>
              <a:buNone/>
            </a:pPr>
            <a:r>
              <a:rPr lang="en-US" sz="1950" b="1" spc="7" kern="0" dirty="0">
                <a:solidFill>
                  <a:srgbClr val="FF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422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13525500" y="3732252"/>
            <a:ext cx="370484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081"/>
              </a:lnSpc>
              <a:buNone/>
            </a:pPr>
            <a:r>
              <a:rPr lang="en-US" sz="1950" spc="7" kern="0" dirty="0">
                <a:solidFill>
                  <a:srgbClr val="37383C">
                    <a:alpha val="61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저장 안 됨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914400" y="4170402"/>
            <a:ext cx="16459200" cy="9525"/>
          </a:xfrm>
          <a:prstGeom prst="rect">
            <a:avLst/>
          </a:prstGeom>
          <a:solidFill>
            <a:srgbClr val="F4F4F5"/>
          </a:solidFill>
          <a:ln/>
        </p:spPr>
      </p:sp>
      <p:sp>
        <p:nvSpPr>
          <p:cNvPr id="21" name="Text 19"/>
          <p:cNvSpPr/>
          <p:nvPr/>
        </p:nvSpPr>
        <p:spPr>
          <a:xfrm>
            <a:off x="1181100" y="4387572"/>
            <a:ext cx="794308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081"/>
              </a:lnSpc>
              <a:buNone/>
            </a:pPr>
            <a:r>
              <a:rPr lang="en-US" sz="1950" spc="7" kern="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오늘 날짜 / 과거 날짜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9410700" y="4387572"/>
            <a:ext cx="370484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081"/>
              </a:lnSpc>
              <a:buNone/>
            </a:pPr>
            <a:r>
              <a:rPr lang="en-US" sz="1950" b="1" spc="7" kern="0" dirty="0">
                <a:solidFill>
                  <a:srgbClr val="FF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422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13525500" y="4387572"/>
            <a:ext cx="370484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081"/>
              </a:lnSpc>
              <a:buNone/>
            </a:pPr>
            <a:r>
              <a:rPr lang="en-US" sz="1950" spc="7" kern="0" dirty="0">
                <a:solidFill>
                  <a:srgbClr val="37383C">
                    <a:alpha val="61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저장 안 됨</a:t>
            </a:r>
            <a:endParaRPr lang="en-US" sz="1950" dirty="0"/>
          </a:p>
        </p:txBody>
      </p:sp>
      <p:sp>
        <p:nvSpPr>
          <p:cNvPr id="24" name="Shape 22"/>
          <p:cNvSpPr/>
          <p:nvPr/>
        </p:nvSpPr>
        <p:spPr>
          <a:xfrm>
            <a:off x="914400" y="4825722"/>
            <a:ext cx="16459200" cy="9525"/>
          </a:xfrm>
          <a:prstGeom prst="rect">
            <a:avLst/>
          </a:prstGeom>
          <a:solidFill>
            <a:srgbClr val="F4F4F5"/>
          </a:solidFill>
          <a:ln/>
        </p:spPr>
      </p:sp>
      <p:sp>
        <p:nvSpPr>
          <p:cNvPr id="25" name="Text 23"/>
          <p:cNvSpPr/>
          <p:nvPr/>
        </p:nvSpPr>
        <p:spPr>
          <a:xfrm>
            <a:off x="1181100" y="5042892"/>
            <a:ext cx="794308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081"/>
              </a:lnSpc>
              <a:buNone/>
            </a:pPr>
            <a:r>
              <a:rPr lang="en-US" sz="1950" spc="7" kern="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필수값 누락</a:t>
            </a:r>
            <a:endParaRPr lang="en-US" sz="1950" dirty="0"/>
          </a:p>
        </p:txBody>
      </p:sp>
      <p:sp>
        <p:nvSpPr>
          <p:cNvPr id="26" name="Text 24"/>
          <p:cNvSpPr/>
          <p:nvPr/>
        </p:nvSpPr>
        <p:spPr>
          <a:xfrm>
            <a:off x="9410700" y="5042892"/>
            <a:ext cx="370484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081"/>
              </a:lnSpc>
              <a:buNone/>
            </a:pPr>
            <a:r>
              <a:rPr lang="en-US" sz="1950" b="1" spc="7" kern="0" dirty="0">
                <a:solidFill>
                  <a:srgbClr val="FF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422</a:t>
            </a:r>
            <a:endParaRPr lang="en-US" sz="1950" dirty="0"/>
          </a:p>
        </p:txBody>
      </p:sp>
      <p:sp>
        <p:nvSpPr>
          <p:cNvPr id="27" name="Text 25"/>
          <p:cNvSpPr/>
          <p:nvPr/>
        </p:nvSpPr>
        <p:spPr>
          <a:xfrm>
            <a:off x="13525500" y="5042892"/>
            <a:ext cx="370484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081"/>
              </a:lnSpc>
              <a:buNone/>
            </a:pPr>
            <a:r>
              <a:rPr lang="en-US" sz="1950" spc="7" kern="0" dirty="0">
                <a:solidFill>
                  <a:srgbClr val="37383C">
                    <a:alpha val="61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저장 안 됨</a:t>
            </a:r>
            <a:endParaRPr lang="en-US" sz="1950" dirty="0"/>
          </a:p>
        </p:txBody>
      </p:sp>
      <p:sp>
        <p:nvSpPr>
          <p:cNvPr id="28" name="Shape 26"/>
          <p:cNvSpPr/>
          <p:nvPr/>
        </p:nvSpPr>
        <p:spPr>
          <a:xfrm>
            <a:off x="914400" y="9345930"/>
            <a:ext cx="16459200" cy="9525"/>
          </a:xfrm>
          <a:prstGeom prst="rect">
            <a:avLst/>
          </a:prstGeom>
          <a:solidFill>
            <a:srgbClr val="F4F4F5"/>
          </a:solidFill>
          <a:ln/>
        </p:spPr>
      </p:sp>
      <p:sp>
        <p:nvSpPr>
          <p:cNvPr id="29" name="Text 27"/>
          <p:cNvSpPr/>
          <p:nvPr/>
        </p:nvSpPr>
        <p:spPr>
          <a:xfrm>
            <a:off x="914400" y="9525000"/>
            <a:ext cx="2283309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235"/>
              </a:lnSpc>
              <a:buNone/>
            </a:pPr>
            <a:r>
              <a:rPr lang="en-US" sz="1800" spc="7" kern="0" dirty="0">
                <a:solidFill>
                  <a:srgbClr val="37383C">
                    <a:alpha val="2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참조 문서: [문서 경로]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3256836" y="9525000"/>
            <a:ext cx="1873377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235"/>
              </a:lnSpc>
              <a:buNone/>
            </a:pPr>
            <a:r>
              <a:rPr lang="en-US" sz="1800" spc="7" kern="0" dirty="0">
                <a:solidFill>
                  <a:srgbClr val="37383C">
                    <a:alpha val="2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 ID: [QA-번호]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5226606" y="9525000"/>
            <a:ext cx="3980271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235"/>
              </a:lnSpc>
              <a:buNone/>
            </a:pPr>
            <a:r>
              <a:rPr lang="en-US" sz="1800" spc="7" kern="0" dirty="0">
                <a:solidFill>
                  <a:srgbClr val="37383C">
                    <a:alpha val="2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자동화 테스트: [테스트 파일/테스트명]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9111734" y="9525000"/>
            <a:ext cx="418445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235"/>
              </a:lnSpc>
              <a:buNone/>
            </a:pPr>
            <a:r>
              <a:rPr lang="en-US" sz="1800" spc="7" kern="0" dirty="0">
                <a:solidFill>
                  <a:srgbClr val="37383C">
                    <a:alpha val="2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증거: [스크린샷/API 응답/파일/DB 조회]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005840"/>
            <a:ext cx="33230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235"/>
              </a:lnSpc>
              <a:buNone/>
            </a:pPr>
            <a:r>
              <a:rPr lang="en-US" sz="1800" b="1" spc="7" kern="0" dirty="0">
                <a:solidFill>
                  <a:srgbClr val="006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322903" y="723900"/>
            <a:ext cx="2161246" cy="6423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733"/>
              </a:lnSpc>
              <a:buNone/>
            </a:pPr>
            <a:r>
              <a:rPr lang="en-US" sz="3900" b="1" spc="7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접수 수정</a:t>
            </a:r>
            <a:endParaRPr lang="en-US" sz="3900" dirty="0"/>
          </a:p>
        </p:txBody>
      </p:sp>
      <p:sp>
        <p:nvSpPr>
          <p:cNvPr id="4" name="Shape 2"/>
          <p:cNvSpPr/>
          <p:nvPr/>
        </p:nvSpPr>
        <p:spPr>
          <a:xfrm>
            <a:off x="914400" y="1632942"/>
            <a:ext cx="16459200" cy="571500"/>
          </a:xfrm>
          <a:prstGeom prst="rect">
            <a:avLst/>
          </a:prstGeom>
          <a:solidFill>
            <a:srgbClr val="70737C">
              <a:alpha val="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181100" y="1804392"/>
            <a:ext cx="794308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235"/>
              </a:lnSpc>
              <a:buNone/>
            </a:pPr>
            <a:r>
              <a:rPr lang="en-US" sz="1800" b="1" spc="7" kern="0" dirty="0">
                <a:solidFill>
                  <a:srgbClr val="37383C">
                    <a:alpha val="61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상태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410700" y="1804392"/>
            <a:ext cx="794308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235"/>
              </a:lnSpc>
              <a:buNone/>
            </a:pPr>
            <a:r>
              <a:rPr lang="en-US" sz="1800" b="1" spc="7" kern="0" dirty="0">
                <a:solidFill>
                  <a:srgbClr val="37383C">
                    <a:alpha val="61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결과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" y="2204442"/>
            <a:ext cx="16459200" cy="9525"/>
          </a:xfrm>
          <a:prstGeom prst="rect">
            <a:avLst/>
          </a:prstGeom>
          <a:solidFill>
            <a:srgbClr val="F4F4F5"/>
          </a:solidFill>
          <a:ln/>
        </p:spPr>
      </p:sp>
      <p:sp>
        <p:nvSpPr>
          <p:cNvPr id="8" name="Text 6"/>
          <p:cNvSpPr/>
          <p:nvPr/>
        </p:nvSpPr>
        <p:spPr>
          <a:xfrm>
            <a:off x="1181100" y="2421612"/>
            <a:ext cx="7943088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081"/>
              </a:lnSpc>
              <a:buNone/>
            </a:pPr>
            <a:r>
              <a:rPr lang="en-US" sz="1950" spc="7" kern="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RECEIVED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9410700" y="2421612"/>
            <a:ext cx="1252061" cy="342900"/>
          </a:xfrm>
          <a:prstGeom prst="roundRect">
            <a:avLst>
              <a:gd name="adj" fmla="val 50000"/>
            </a:avLst>
          </a:prstGeom>
          <a:solidFill>
            <a:srgbClr val="00BF40">
              <a:alpha val="12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9582150" y="2478762"/>
            <a:ext cx="1034367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lnSpc>
                <a:spcPct val="88235"/>
              </a:lnSpc>
              <a:buNone/>
            </a:pPr>
            <a:r>
              <a:rPr lang="en-US" sz="1800" b="1" spc="7" kern="0" dirty="0">
                <a:solidFill>
                  <a:srgbClr val="00BF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수정 허용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14400" y="2974062"/>
            <a:ext cx="16459200" cy="9525"/>
          </a:xfrm>
          <a:prstGeom prst="rect">
            <a:avLst/>
          </a:prstGeom>
          <a:solidFill>
            <a:srgbClr val="F4F4F5"/>
          </a:solidFill>
          <a:ln/>
        </p:spPr>
      </p:sp>
      <p:sp>
        <p:nvSpPr>
          <p:cNvPr id="12" name="Text 10"/>
          <p:cNvSpPr/>
          <p:nvPr/>
        </p:nvSpPr>
        <p:spPr>
          <a:xfrm>
            <a:off x="1181100" y="3191232"/>
            <a:ext cx="7943088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081"/>
              </a:lnSpc>
              <a:buNone/>
            </a:pPr>
            <a:r>
              <a:rPr lang="en-US" sz="1950" spc="7" kern="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PICKED_UP 이후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9410700" y="3191232"/>
            <a:ext cx="1213723" cy="342900"/>
          </a:xfrm>
          <a:prstGeom prst="roundRect">
            <a:avLst>
              <a:gd name="adj" fmla="val 50000"/>
            </a:avLst>
          </a:prstGeom>
          <a:solidFill>
            <a:srgbClr val="FF4242">
              <a:alpha val="1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9582150" y="3248382"/>
            <a:ext cx="992195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lnSpc>
                <a:spcPct val="88235"/>
              </a:lnSpc>
              <a:buNone/>
            </a:pPr>
            <a:r>
              <a:rPr lang="en-US" sz="1800" b="1" spc="7" kern="0" dirty="0">
                <a:solidFill>
                  <a:srgbClr val="FF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409 거부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914400" y="3743682"/>
            <a:ext cx="16459200" cy="9525"/>
          </a:xfrm>
          <a:prstGeom prst="rect">
            <a:avLst/>
          </a:prstGeom>
          <a:solidFill>
            <a:srgbClr val="F4F4F5"/>
          </a:solidFill>
          <a:ln/>
        </p:spPr>
      </p:sp>
      <p:sp>
        <p:nvSpPr>
          <p:cNvPr id="16" name="Text 14"/>
          <p:cNvSpPr/>
          <p:nvPr/>
        </p:nvSpPr>
        <p:spPr>
          <a:xfrm>
            <a:off x="1181100" y="3960852"/>
            <a:ext cx="7943088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081"/>
              </a:lnSpc>
              <a:buNone/>
            </a:pPr>
            <a:r>
              <a:rPr lang="en-US" sz="1950" spc="7" kern="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DISINFECTED 이후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9410700" y="3960852"/>
            <a:ext cx="1213723" cy="342900"/>
          </a:xfrm>
          <a:prstGeom prst="roundRect">
            <a:avLst>
              <a:gd name="adj" fmla="val 50000"/>
            </a:avLst>
          </a:prstGeom>
          <a:solidFill>
            <a:srgbClr val="FF4242">
              <a:alpha val="1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9582150" y="4018002"/>
            <a:ext cx="992195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lnSpc>
                <a:spcPct val="88235"/>
              </a:lnSpc>
              <a:buNone/>
            </a:pPr>
            <a:r>
              <a:rPr lang="en-US" sz="1800" b="1" spc="7" kern="0" dirty="0">
                <a:solidFill>
                  <a:srgbClr val="FF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409 거부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914400" y="4513302"/>
            <a:ext cx="16459200" cy="9525"/>
          </a:xfrm>
          <a:prstGeom prst="rect">
            <a:avLst/>
          </a:prstGeom>
          <a:solidFill>
            <a:srgbClr val="F4F4F5"/>
          </a:solidFill>
          <a:ln/>
        </p:spPr>
      </p:sp>
      <p:sp>
        <p:nvSpPr>
          <p:cNvPr id="20" name="Text 18"/>
          <p:cNvSpPr/>
          <p:nvPr/>
        </p:nvSpPr>
        <p:spPr>
          <a:xfrm>
            <a:off x="1181100" y="4730472"/>
            <a:ext cx="7943088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081"/>
              </a:lnSpc>
              <a:buNone/>
            </a:pPr>
            <a:r>
              <a:rPr lang="en-US" sz="1950" spc="7" kern="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DELIVERED 이후</a:t>
            </a:r>
            <a:endParaRPr lang="en-US" sz="1950" dirty="0"/>
          </a:p>
        </p:txBody>
      </p:sp>
      <p:sp>
        <p:nvSpPr>
          <p:cNvPr id="21" name="Shape 19"/>
          <p:cNvSpPr/>
          <p:nvPr/>
        </p:nvSpPr>
        <p:spPr>
          <a:xfrm>
            <a:off x="9410700" y="4730472"/>
            <a:ext cx="1213723" cy="342900"/>
          </a:xfrm>
          <a:prstGeom prst="roundRect">
            <a:avLst>
              <a:gd name="adj" fmla="val 50000"/>
            </a:avLst>
          </a:prstGeom>
          <a:solidFill>
            <a:srgbClr val="FF4242">
              <a:alpha val="1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9582150" y="4787622"/>
            <a:ext cx="992195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lnSpc>
                <a:spcPct val="88235"/>
              </a:lnSpc>
              <a:buNone/>
            </a:pPr>
            <a:r>
              <a:rPr lang="en-US" sz="1800" b="1" spc="7" kern="0" dirty="0">
                <a:solidFill>
                  <a:srgbClr val="FF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409 거부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914400" y="5587722"/>
            <a:ext cx="16459200" cy="723900"/>
          </a:xfrm>
          <a:prstGeom prst="roundRect">
            <a:avLst>
              <a:gd name="adj" fmla="val 15789"/>
            </a:avLst>
          </a:prstGeom>
          <a:solidFill>
            <a:srgbClr val="70737C">
              <a:alpha val="5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1181100" y="5835372"/>
            <a:ext cx="224257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081"/>
              </a:lnSpc>
              <a:buNone/>
            </a:pPr>
            <a:r>
              <a:rPr lang="en-US" sz="1950" spc="7" kern="0" dirty="0">
                <a:solidFill>
                  <a:srgbClr val="37383C">
                    <a:alpha val="61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항상 수정 불가 필드</a:t>
            </a:r>
            <a:endParaRPr lang="en-US" sz="1950" dirty="0"/>
          </a:p>
        </p:txBody>
      </p:sp>
      <p:sp>
        <p:nvSpPr>
          <p:cNvPr id="25" name="Shape 23"/>
          <p:cNvSpPr/>
          <p:nvPr/>
        </p:nvSpPr>
        <p:spPr>
          <a:xfrm>
            <a:off x="3372207" y="5778222"/>
            <a:ext cx="2620923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3543657" y="5835372"/>
            <a:ext cx="2540115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lnSpc>
                <a:spcPct val="88235"/>
              </a:lnSpc>
              <a:buNone/>
            </a:pPr>
            <a:r>
              <a:rPr lang="en-US" sz="1800" spc="7" kern="0" dirty="0">
                <a:solidFill>
                  <a:srgbClr val="1717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business_office_id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914400" y="9345930"/>
            <a:ext cx="16459200" cy="9525"/>
          </a:xfrm>
          <a:prstGeom prst="rect">
            <a:avLst/>
          </a:prstGeom>
          <a:solidFill>
            <a:srgbClr val="F4F4F5"/>
          </a:solidFill>
          <a:ln/>
        </p:spPr>
      </p:sp>
      <p:sp>
        <p:nvSpPr>
          <p:cNvPr id="28" name="Text 26"/>
          <p:cNvSpPr/>
          <p:nvPr/>
        </p:nvSpPr>
        <p:spPr>
          <a:xfrm>
            <a:off x="914400" y="9525000"/>
            <a:ext cx="2283309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235"/>
              </a:lnSpc>
              <a:buNone/>
            </a:pPr>
            <a:r>
              <a:rPr lang="en-US" sz="1800" spc="7" kern="0" dirty="0">
                <a:solidFill>
                  <a:srgbClr val="37383C">
                    <a:alpha val="2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참조 문서: [문서 경로]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3256836" y="9525000"/>
            <a:ext cx="1873377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235"/>
              </a:lnSpc>
              <a:buNone/>
            </a:pPr>
            <a:r>
              <a:rPr lang="en-US" sz="1800" spc="7" kern="0" dirty="0">
                <a:solidFill>
                  <a:srgbClr val="37383C">
                    <a:alpha val="2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 ID: [QA-번호]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5226606" y="9525000"/>
            <a:ext cx="3980271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235"/>
              </a:lnSpc>
              <a:buNone/>
            </a:pPr>
            <a:r>
              <a:rPr lang="en-US" sz="1800" spc="7" kern="0" dirty="0">
                <a:solidFill>
                  <a:srgbClr val="37383C">
                    <a:alpha val="2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자동화 테스트: [테스트 파일/테스트명]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9111734" y="9525000"/>
            <a:ext cx="418445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235"/>
              </a:lnSpc>
              <a:buNone/>
            </a:pPr>
            <a:r>
              <a:rPr lang="en-US" sz="1800" spc="7" kern="0" dirty="0">
                <a:solidFill>
                  <a:srgbClr val="37383C">
                    <a:alpha val="2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증거: [스크린샷/API 응답/파일/DB 조회]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005840"/>
            <a:ext cx="33230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235"/>
              </a:lnSpc>
              <a:buNone/>
            </a:pPr>
            <a:r>
              <a:rPr lang="en-US" sz="1800" b="1" spc="7" kern="0" dirty="0">
                <a:solidFill>
                  <a:srgbClr val="006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322903" y="723900"/>
            <a:ext cx="2161246" cy="6423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733"/>
              </a:lnSpc>
              <a:buNone/>
            </a:pPr>
            <a:r>
              <a:rPr lang="en-US" sz="3900" b="1" spc="7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상태 전이</a:t>
            </a:r>
            <a:endParaRPr lang="en-US" sz="3900" dirty="0"/>
          </a:p>
        </p:txBody>
      </p:sp>
      <p:sp>
        <p:nvSpPr>
          <p:cNvPr id="4" name="Shape 2"/>
          <p:cNvSpPr/>
          <p:nvPr/>
        </p:nvSpPr>
        <p:spPr>
          <a:xfrm>
            <a:off x="914400" y="1632942"/>
            <a:ext cx="2098596" cy="4953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1181100" y="1766292"/>
            <a:ext cx="1641396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lnSpc>
                <a:spcPct val="66667"/>
              </a:lnSpc>
              <a:buNone/>
            </a:pPr>
            <a:r>
              <a:rPr lang="en-US" sz="2400" b="1" spc="7" kern="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RECEIVED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184446" y="1766292"/>
            <a:ext cx="38195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6667"/>
              </a:lnSpc>
              <a:buNone/>
            </a:pPr>
            <a:r>
              <a:rPr lang="en-US" sz="2400" spc="7" kern="0" dirty="0">
                <a:solidFill>
                  <a:srgbClr val="37383C">
                    <a:alpha val="2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661648" y="1632942"/>
            <a:ext cx="2285881" cy="4953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3928348" y="1766292"/>
            <a:ext cx="1828681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lnSpc>
                <a:spcPct val="66667"/>
              </a:lnSpc>
              <a:buNone/>
            </a:pPr>
            <a:r>
              <a:rPr lang="en-US" sz="2400" b="1" spc="7" kern="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PICKED_UP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118979" y="1766292"/>
            <a:ext cx="38195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6667"/>
              </a:lnSpc>
              <a:buNone/>
            </a:pPr>
            <a:r>
              <a:rPr lang="en-US" sz="2400" spc="7" kern="0" dirty="0">
                <a:solidFill>
                  <a:srgbClr val="37383C">
                    <a:alpha val="2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6596182" y="1632942"/>
            <a:ext cx="2575084" cy="4953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6862882" y="1766292"/>
            <a:ext cx="2118936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lnSpc>
                <a:spcPct val="66667"/>
              </a:lnSpc>
              <a:buNone/>
            </a:pPr>
            <a:r>
              <a:rPr lang="en-US" sz="2400" b="1" spc="7" kern="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DISINFECTED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9342715" y="1766292"/>
            <a:ext cx="38195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6667"/>
              </a:lnSpc>
              <a:buNone/>
            </a:pPr>
            <a:r>
              <a:rPr lang="en-US" sz="2400" spc="7" kern="0" dirty="0">
                <a:solidFill>
                  <a:srgbClr val="37383C">
                    <a:alpha val="2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9819918" y="1632942"/>
            <a:ext cx="2285643" cy="4953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10086618" y="1766292"/>
            <a:ext cx="1828443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lnSpc>
                <a:spcPct val="66667"/>
              </a:lnSpc>
              <a:buNone/>
            </a:pPr>
            <a:r>
              <a:rPr lang="en-US" sz="2400" b="1" spc="7" kern="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DELIVERED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914400" y="2661642"/>
            <a:ext cx="1810512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235"/>
              </a:lnSpc>
              <a:buNone/>
            </a:pPr>
            <a:r>
              <a:rPr lang="en-US" sz="1800" b="1" spc="7" kern="0" dirty="0">
                <a:solidFill>
                  <a:srgbClr val="FF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금지 전이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14400" y="3080742"/>
            <a:ext cx="5638800" cy="609600"/>
          </a:xfrm>
          <a:prstGeom prst="roundRect">
            <a:avLst>
              <a:gd name="adj" fmla="val 18750"/>
            </a:avLst>
          </a:prstGeom>
          <a:solidFill>
            <a:srgbClr val="FF4242">
              <a:alpha val="6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1143000" y="3271242"/>
            <a:ext cx="535076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081"/>
              </a:lnSpc>
              <a:buNone/>
            </a:pPr>
            <a:r>
              <a:rPr lang="en-US" sz="1950" spc="7" kern="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단계 건너뛰기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6705600" y="3080742"/>
            <a:ext cx="5638800" cy="609600"/>
          </a:xfrm>
          <a:prstGeom prst="roundRect">
            <a:avLst>
              <a:gd name="adj" fmla="val 18750"/>
            </a:avLst>
          </a:prstGeom>
          <a:solidFill>
            <a:srgbClr val="FF4242">
              <a:alpha val="6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6934200" y="3271242"/>
            <a:ext cx="535076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081"/>
              </a:lnSpc>
              <a:buNone/>
            </a:pPr>
            <a:r>
              <a:rPr lang="en-US" sz="1950" spc="7" kern="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역방향 전이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914400" y="3842742"/>
            <a:ext cx="5638800" cy="609600"/>
          </a:xfrm>
          <a:prstGeom prst="roundRect">
            <a:avLst>
              <a:gd name="adj" fmla="val 18750"/>
            </a:avLst>
          </a:prstGeom>
          <a:solidFill>
            <a:srgbClr val="FF4242">
              <a:alpha val="6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1143000" y="4033242"/>
            <a:ext cx="535076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081"/>
              </a:lnSpc>
              <a:buNone/>
            </a:pPr>
            <a:r>
              <a:rPr lang="en-US" sz="1950" spc="7" kern="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동일 상태 중복 처리</a:t>
            </a:r>
            <a:endParaRPr lang="en-US" sz="1950" dirty="0"/>
          </a:p>
        </p:txBody>
      </p:sp>
      <p:sp>
        <p:nvSpPr>
          <p:cNvPr id="22" name="Shape 20"/>
          <p:cNvSpPr/>
          <p:nvPr/>
        </p:nvSpPr>
        <p:spPr>
          <a:xfrm>
            <a:off x="6705600" y="3842742"/>
            <a:ext cx="5638800" cy="609600"/>
          </a:xfrm>
          <a:prstGeom prst="roundRect">
            <a:avLst>
              <a:gd name="adj" fmla="val 18750"/>
            </a:avLst>
          </a:prstGeom>
          <a:solidFill>
            <a:srgbClr val="FF4242">
              <a:alpha val="6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6934200" y="4033242"/>
            <a:ext cx="535076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081"/>
              </a:lnSpc>
              <a:buNone/>
            </a:pPr>
            <a:r>
              <a:rPr lang="en-US" sz="1950" spc="7" kern="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배송완료 이후 상태 변경</a:t>
            </a:r>
            <a:endParaRPr lang="en-US" sz="1950" dirty="0"/>
          </a:p>
        </p:txBody>
      </p:sp>
      <p:sp>
        <p:nvSpPr>
          <p:cNvPr id="24" name="Shape 22"/>
          <p:cNvSpPr/>
          <p:nvPr/>
        </p:nvSpPr>
        <p:spPr>
          <a:xfrm>
            <a:off x="914400" y="9345930"/>
            <a:ext cx="16459200" cy="9525"/>
          </a:xfrm>
          <a:prstGeom prst="rect">
            <a:avLst/>
          </a:prstGeom>
          <a:solidFill>
            <a:srgbClr val="F4F4F5"/>
          </a:solidFill>
          <a:ln/>
        </p:spPr>
      </p:sp>
      <p:sp>
        <p:nvSpPr>
          <p:cNvPr id="25" name="Text 23"/>
          <p:cNvSpPr/>
          <p:nvPr/>
        </p:nvSpPr>
        <p:spPr>
          <a:xfrm>
            <a:off x="914400" y="9525000"/>
            <a:ext cx="2283309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235"/>
              </a:lnSpc>
              <a:buNone/>
            </a:pPr>
            <a:r>
              <a:rPr lang="en-US" sz="1800" spc="7" kern="0" dirty="0">
                <a:solidFill>
                  <a:srgbClr val="37383C">
                    <a:alpha val="2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참조 문서: [문서 경로]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3256836" y="9525000"/>
            <a:ext cx="1873377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235"/>
              </a:lnSpc>
              <a:buNone/>
            </a:pPr>
            <a:r>
              <a:rPr lang="en-US" sz="1800" spc="7" kern="0" dirty="0">
                <a:solidFill>
                  <a:srgbClr val="37383C">
                    <a:alpha val="2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 ID: [QA-번호]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226606" y="9525000"/>
            <a:ext cx="3980271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235"/>
              </a:lnSpc>
              <a:buNone/>
            </a:pPr>
            <a:r>
              <a:rPr lang="en-US" sz="1800" spc="7" kern="0" dirty="0">
                <a:solidFill>
                  <a:srgbClr val="37383C">
                    <a:alpha val="2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자동화 테스트: [테스트 파일/테스트명]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9111734" y="9525000"/>
            <a:ext cx="418445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235"/>
              </a:lnSpc>
              <a:buNone/>
            </a:pPr>
            <a:r>
              <a:rPr lang="en-US" sz="1800" spc="7" kern="0" dirty="0">
                <a:solidFill>
                  <a:srgbClr val="37383C">
                    <a:alpha val="2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증거: [스크린샷/API 응답/파일/DB 조회]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005840"/>
            <a:ext cx="33230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235"/>
              </a:lnSpc>
              <a:buNone/>
            </a:pPr>
            <a:r>
              <a:rPr lang="en-US" sz="1800" b="1" spc="7" kern="0" dirty="0">
                <a:solidFill>
                  <a:srgbClr val="006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322903" y="723900"/>
            <a:ext cx="3253657" cy="6423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733"/>
              </a:lnSpc>
              <a:buNone/>
            </a:pPr>
            <a:r>
              <a:rPr lang="en-US" sz="3900" b="1" spc="7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 다운로드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914400" y="1617702"/>
            <a:ext cx="1196578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235"/>
              </a:lnSpc>
              <a:buNone/>
            </a:pPr>
            <a:r>
              <a:rPr lang="en-US" sz="1800" b="1" spc="7" kern="0" dirty="0">
                <a:solidFill>
                  <a:srgbClr val="37383C">
                    <a:alpha val="61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상태별 권한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14400" y="2074902"/>
            <a:ext cx="7620000" cy="533400"/>
          </a:xfrm>
          <a:prstGeom prst="rect">
            <a:avLst/>
          </a:prstGeom>
          <a:solidFill>
            <a:srgbClr val="70737C">
              <a:alpha val="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2227302"/>
            <a:ext cx="34671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235"/>
              </a:lnSpc>
              <a:buNone/>
            </a:pPr>
            <a:r>
              <a:rPr lang="en-US" sz="1800" b="1" spc="7" kern="0" dirty="0">
                <a:solidFill>
                  <a:srgbClr val="37383C">
                    <a:alpha val="61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상태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953000" y="2227302"/>
            <a:ext cx="34671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235"/>
              </a:lnSpc>
              <a:buNone/>
            </a:pPr>
            <a:r>
              <a:rPr lang="en-US" sz="1800" b="1" spc="7" kern="0" dirty="0">
                <a:solidFill>
                  <a:srgbClr val="37383C">
                    <a:alpha val="61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 결과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14400" y="2608302"/>
            <a:ext cx="7620000" cy="9525"/>
          </a:xfrm>
          <a:prstGeom prst="rect">
            <a:avLst/>
          </a:prstGeom>
          <a:solidFill>
            <a:srgbClr val="F4F4F5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2806422"/>
            <a:ext cx="34671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081"/>
              </a:lnSpc>
              <a:buNone/>
            </a:pPr>
            <a:r>
              <a:rPr lang="en-US" sz="1950" spc="7" kern="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RECEIVED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4953000" y="2806422"/>
            <a:ext cx="765334" cy="342900"/>
          </a:xfrm>
          <a:prstGeom prst="roundRect">
            <a:avLst>
              <a:gd name="adj" fmla="val 50000"/>
            </a:avLst>
          </a:prstGeom>
          <a:solidFill>
            <a:srgbClr val="FF4242">
              <a:alpha val="1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124450" y="2863572"/>
            <a:ext cx="498967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lnSpc>
                <a:spcPct val="88235"/>
              </a:lnSpc>
              <a:buNone/>
            </a:pPr>
            <a:r>
              <a:rPr lang="en-US" sz="1800" b="1" spc="7" kern="0" dirty="0">
                <a:solidFill>
                  <a:srgbClr val="FF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거부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14400" y="3339822"/>
            <a:ext cx="7620000" cy="9525"/>
          </a:xfrm>
          <a:prstGeom prst="rect">
            <a:avLst/>
          </a:prstGeom>
          <a:solidFill>
            <a:srgbClr val="F4F4F5"/>
          </a:solidFill>
          <a:ln/>
        </p:spPr>
      </p:sp>
      <p:sp>
        <p:nvSpPr>
          <p:cNvPr id="13" name="Text 11"/>
          <p:cNvSpPr/>
          <p:nvPr/>
        </p:nvSpPr>
        <p:spPr>
          <a:xfrm>
            <a:off x="1143000" y="3537942"/>
            <a:ext cx="34671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081"/>
              </a:lnSpc>
              <a:buNone/>
            </a:pPr>
            <a:r>
              <a:rPr lang="en-US" sz="1950" spc="7" kern="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PICKED_UP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4953000" y="3537942"/>
            <a:ext cx="765334" cy="342900"/>
          </a:xfrm>
          <a:prstGeom prst="roundRect">
            <a:avLst>
              <a:gd name="adj" fmla="val 50000"/>
            </a:avLst>
          </a:prstGeom>
          <a:solidFill>
            <a:srgbClr val="FF4242">
              <a:alpha val="1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5124450" y="3595092"/>
            <a:ext cx="498967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lnSpc>
                <a:spcPct val="88235"/>
              </a:lnSpc>
              <a:buNone/>
            </a:pPr>
            <a:r>
              <a:rPr lang="en-US" sz="1800" b="1" spc="7" kern="0" dirty="0">
                <a:solidFill>
                  <a:srgbClr val="FF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거부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14400" y="4071342"/>
            <a:ext cx="7620000" cy="9525"/>
          </a:xfrm>
          <a:prstGeom prst="rect">
            <a:avLst/>
          </a:prstGeom>
          <a:solidFill>
            <a:srgbClr val="F4F4F5"/>
          </a:solidFill>
          <a:ln/>
        </p:spPr>
      </p:sp>
      <p:sp>
        <p:nvSpPr>
          <p:cNvPr id="17" name="Text 15"/>
          <p:cNvSpPr/>
          <p:nvPr/>
        </p:nvSpPr>
        <p:spPr>
          <a:xfrm>
            <a:off x="1143000" y="4269462"/>
            <a:ext cx="34671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081"/>
              </a:lnSpc>
              <a:buNone/>
            </a:pPr>
            <a:r>
              <a:rPr lang="en-US" sz="1950" spc="7" kern="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DISINFECTED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4953000" y="4269462"/>
            <a:ext cx="1674376" cy="342900"/>
          </a:xfrm>
          <a:prstGeom prst="roundRect">
            <a:avLst>
              <a:gd name="adj" fmla="val 50000"/>
            </a:avLst>
          </a:prstGeom>
          <a:solidFill>
            <a:srgbClr val="00BF40">
              <a:alpha val="12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5124450" y="4326612"/>
            <a:ext cx="1498914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lnSpc>
                <a:spcPct val="88235"/>
              </a:lnSpc>
              <a:buNone/>
            </a:pPr>
            <a:r>
              <a:rPr lang="en-US" sz="1800" b="1" spc="7" kern="0" dirty="0">
                <a:solidFill>
                  <a:srgbClr val="00BF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다운로드 허용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914400" y="4802862"/>
            <a:ext cx="7620000" cy="9525"/>
          </a:xfrm>
          <a:prstGeom prst="rect">
            <a:avLst/>
          </a:prstGeom>
          <a:solidFill>
            <a:srgbClr val="F4F4F5"/>
          </a:solidFill>
          <a:ln/>
        </p:spPr>
      </p:sp>
      <p:sp>
        <p:nvSpPr>
          <p:cNvPr id="21" name="Text 19"/>
          <p:cNvSpPr/>
          <p:nvPr/>
        </p:nvSpPr>
        <p:spPr>
          <a:xfrm>
            <a:off x="1143000" y="5000982"/>
            <a:ext cx="34671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081"/>
              </a:lnSpc>
              <a:buNone/>
            </a:pPr>
            <a:r>
              <a:rPr lang="en-US" sz="1950" spc="7" kern="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DELIVERED</a:t>
            </a:r>
            <a:endParaRPr lang="en-US" sz="1950" dirty="0"/>
          </a:p>
        </p:txBody>
      </p:sp>
      <p:sp>
        <p:nvSpPr>
          <p:cNvPr id="22" name="Shape 20"/>
          <p:cNvSpPr/>
          <p:nvPr/>
        </p:nvSpPr>
        <p:spPr>
          <a:xfrm>
            <a:off x="4953000" y="5000983"/>
            <a:ext cx="1674376" cy="342900"/>
          </a:xfrm>
          <a:prstGeom prst="roundRect">
            <a:avLst>
              <a:gd name="adj" fmla="val 50000"/>
            </a:avLst>
          </a:prstGeom>
          <a:solidFill>
            <a:srgbClr val="00BF40">
              <a:alpha val="12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5124450" y="5058133"/>
            <a:ext cx="1498914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lnSpc>
                <a:spcPct val="88235"/>
              </a:lnSpc>
              <a:buNone/>
            </a:pPr>
            <a:r>
              <a:rPr lang="en-US" sz="1800" b="1" spc="7" kern="0" dirty="0">
                <a:solidFill>
                  <a:srgbClr val="00BF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다운로드 허용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991600" y="1617702"/>
            <a:ext cx="1576733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235"/>
              </a:lnSpc>
              <a:buNone/>
            </a:pPr>
            <a:r>
              <a:rPr lang="en-US" sz="1800" b="1" spc="7" kern="0" dirty="0">
                <a:solidFill>
                  <a:srgbClr val="37383C">
                    <a:alpha val="61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 검증 항목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220200" y="2246352"/>
            <a:ext cx="817626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081"/>
              </a:lnSpc>
              <a:buNone/>
            </a:pPr>
            <a:r>
              <a:rPr lang="en-US" sz="1950" spc="7" kern="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파일이 열림</a:t>
            </a:r>
            <a:endParaRPr lang="en-US" sz="1950" dirty="0"/>
          </a:p>
        </p:txBody>
      </p:sp>
      <p:sp>
        <p:nvSpPr>
          <p:cNvPr id="26" name="Text 24"/>
          <p:cNvSpPr/>
          <p:nvPr/>
        </p:nvSpPr>
        <p:spPr>
          <a:xfrm>
            <a:off x="9220200" y="2951202"/>
            <a:ext cx="817626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081"/>
              </a:lnSpc>
              <a:buNone/>
            </a:pPr>
            <a:r>
              <a:rPr lang="en-US" sz="1950" spc="7" kern="0" dirty="0">
                <a:solidFill>
                  <a:srgbClr val="1717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%PDF 헤더 포함</a:t>
            </a:r>
            <a:endParaRPr lang="en-US" sz="1950" dirty="0"/>
          </a:p>
        </p:txBody>
      </p:sp>
      <p:sp>
        <p:nvSpPr>
          <p:cNvPr id="27" name="Text 25"/>
          <p:cNvSpPr/>
          <p:nvPr/>
        </p:nvSpPr>
        <p:spPr>
          <a:xfrm>
            <a:off x="9220200" y="3656052"/>
            <a:ext cx="817626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081"/>
              </a:lnSpc>
              <a:buNone/>
            </a:pPr>
            <a:r>
              <a:rPr lang="en-US" sz="1950" spc="7" kern="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접수번호 포함</a:t>
            </a:r>
            <a:endParaRPr lang="en-US" sz="1950" dirty="0"/>
          </a:p>
        </p:txBody>
      </p:sp>
      <p:sp>
        <p:nvSpPr>
          <p:cNvPr id="28" name="Text 26"/>
          <p:cNvSpPr/>
          <p:nvPr/>
        </p:nvSpPr>
        <p:spPr>
          <a:xfrm>
            <a:off x="9220200" y="4360902"/>
            <a:ext cx="817626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081"/>
              </a:lnSpc>
              <a:buNone/>
            </a:pPr>
            <a:r>
              <a:rPr lang="en-US" sz="1950" spc="7" kern="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"기술 프로토타입 - 공단 제출용 아님" 표시</a:t>
            </a:r>
            <a:endParaRPr lang="en-US" sz="1950" dirty="0"/>
          </a:p>
        </p:txBody>
      </p:sp>
      <p:sp>
        <p:nvSpPr>
          <p:cNvPr id="29" name="Shape 27"/>
          <p:cNvSpPr/>
          <p:nvPr/>
        </p:nvSpPr>
        <p:spPr>
          <a:xfrm>
            <a:off x="914400" y="9345930"/>
            <a:ext cx="16459200" cy="9525"/>
          </a:xfrm>
          <a:prstGeom prst="rect">
            <a:avLst/>
          </a:prstGeom>
          <a:solidFill>
            <a:srgbClr val="F4F4F5"/>
          </a:solidFill>
          <a:ln/>
        </p:spPr>
      </p:sp>
      <p:sp>
        <p:nvSpPr>
          <p:cNvPr id="30" name="Text 28"/>
          <p:cNvSpPr/>
          <p:nvPr/>
        </p:nvSpPr>
        <p:spPr>
          <a:xfrm>
            <a:off x="914400" y="9525000"/>
            <a:ext cx="2283309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235"/>
              </a:lnSpc>
              <a:buNone/>
            </a:pPr>
            <a:r>
              <a:rPr lang="en-US" sz="1800" spc="7" kern="0" dirty="0">
                <a:solidFill>
                  <a:srgbClr val="37383C">
                    <a:alpha val="2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참조 문서: [문서 경로]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3256836" y="9525000"/>
            <a:ext cx="1873377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235"/>
              </a:lnSpc>
              <a:buNone/>
            </a:pPr>
            <a:r>
              <a:rPr lang="en-US" sz="1800" spc="7" kern="0" dirty="0">
                <a:solidFill>
                  <a:srgbClr val="37383C">
                    <a:alpha val="2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 ID: [QA-번호]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226606" y="9525000"/>
            <a:ext cx="3980271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235"/>
              </a:lnSpc>
              <a:buNone/>
            </a:pPr>
            <a:r>
              <a:rPr lang="en-US" sz="1800" spc="7" kern="0" dirty="0">
                <a:solidFill>
                  <a:srgbClr val="37383C">
                    <a:alpha val="2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자동화 테스트: [테스트 파일/테스트명]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9111734" y="9525000"/>
            <a:ext cx="418445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235"/>
              </a:lnSpc>
              <a:buNone/>
            </a:pPr>
            <a:r>
              <a:rPr lang="en-US" sz="1800" spc="7" kern="0" dirty="0">
                <a:solidFill>
                  <a:srgbClr val="37383C">
                    <a:alpha val="2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증거: [스크린샷/API 응답/파일/DB 조회]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005840"/>
            <a:ext cx="33230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235"/>
              </a:lnSpc>
              <a:buNone/>
            </a:pPr>
            <a:r>
              <a:rPr lang="en-US" sz="1800" b="1" spc="7" kern="0" dirty="0">
                <a:solidFill>
                  <a:srgbClr val="006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322903" y="723900"/>
            <a:ext cx="2191238" cy="6423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733"/>
              </a:lnSpc>
              <a:buNone/>
            </a:pPr>
            <a:r>
              <a:rPr lang="en-US" sz="3900" b="1" spc="7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목록·필터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1083421" y="1880592"/>
            <a:ext cx="363388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81081"/>
              </a:lnSpc>
              <a:buNone/>
            </a:pPr>
            <a:r>
              <a:rPr lang="en-US" sz="1950" spc="7" kern="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수거 희망일 기간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5245846" y="1880592"/>
            <a:ext cx="363388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81081"/>
              </a:lnSpc>
              <a:buNone/>
            </a:pPr>
            <a:r>
              <a:rPr lang="en-US" sz="1950" spc="7" kern="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사업소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9408271" y="1880592"/>
            <a:ext cx="363388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81081"/>
              </a:lnSpc>
              <a:buNone/>
            </a:pPr>
            <a:r>
              <a:rPr lang="en-US" sz="1950" spc="7" kern="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상태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3570696" y="1880592"/>
            <a:ext cx="363388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81081"/>
              </a:lnSpc>
              <a:buNone/>
            </a:pPr>
            <a:r>
              <a:rPr lang="en-US" sz="1950" spc="7" kern="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복합 필터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914400" y="2737842"/>
            <a:ext cx="16459200" cy="762000"/>
          </a:xfrm>
          <a:prstGeom prst="roundRect">
            <a:avLst>
              <a:gd name="adj" fmla="val 15000"/>
            </a:avLst>
          </a:prstGeom>
          <a:solidFill>
            <a:srgbClr val="FF9E00">
              <a:alpha val="8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219200" y="3004542"/>
            <a:ext cx="161806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6667"/>
              </a:lnSpc>
              <a:buNone/>
            </a:pPr>
            <a:r>
              <a:rPr lang="en-US" sz="2400" spc="7" kern="0" dirty="0">
                <a:solidFill>
                  <a:srgbClr val="FF9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495306" y="3004542"/>
            <a:ext cx="549152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081"/>
              </a:lnSpc>
              <a:buNone/>
            </a:pPr>
            <a:r>
              <a:rPr lang="en-US" sz="1950" b="1" spc="7" kern="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기간 기준은 생성일이 아니라 수거 희망일입니다.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914400" y="9345930"/>
            <a:ext cx="16459200" cy="9525"/>
          </a:xfrm>
          <a:prstGeom prst="rect">
            <a:avLst/>
          </a:prstGeom>
          <a:solidFill>
            <a:srgbClr val="F4F4F5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9525000"/>
            <a:ext cx="2283309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235"/>
              </a:lnSpc>
              <a:buNone/>
            </a:pPr>
            <a:r>
              <a:rPr lang="en-US" sz="1800" spc="7" kern="0" dirty="0">
                <a:solidFill>
                  <a:srgbClr val="37383C">
                    <a:alpha val="2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참조 문서: [문서 경로]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256836" y="9525000"/>
            <a:ext cx="1873377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235"/>
              </a:lnSpc>
              <a:buNone/>
            </a:pPr>
            <a:r>
              <a:rPr lang="en-US" sz="1800" spc="7" kern="0" dirty="0">
                <a:solidFill>
                  <a:srgbClr val="37383C">
                    <a:alpha val="2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 ID: [QA-번호]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226606" y="9525000"/>
            <a:ext cx="3980271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235"/>
              </a:lnSpc>
              <a:buNone/>
            </a:pPr>
            <a:r>
              <a:rPr lang="en-US" sz="1800" spc="7" kern="0" dirty="0">
                <a:solidFill>
                  <a:srgbClr val="37383C">
                    <a:alpha val="2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자동화 테스트: [테스트 파일/테스트명]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111734" y="9525000"/>
            <a:ext cx="418445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235"/>
              </a:lnSpc>
              <a:buNone/>
            </a:pPr>
            <a:r>
              <a:rPr lang="en-US" sz="1800" spc="7" kern="0" dirty="0">
                <a:solidFill>
                  <a:srgbClr val="37383C">
                    <a:alpha val="2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증거: [스크린샷/API 응답/파일/DB 조회]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005840"/>
            <a:ext cx="31968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235"/>
              </a:lnSpc>
              <a:buNone/>
            </a:pPr>
            <a:r>
              <a:rPr lang="en-US" sz="1800" b="1" spc="7" kern="0" dirty="0">
                <a:solidFill>
                  <a:srgbClr val="006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310283" y="723900"/>
            <a:ext cx="989290" cy="6423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733"/>
              </a:lnSpc>
              <a:buNone/>
            </a:pPr>
            <a:r>
              <a:rPr lang="en-US" sz="3900" b="1" spc="7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통계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1143000" y="1937742"/>
            <a:ext cx="363388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081"/>
              </a:lnSpc>
              <a:buNone/>
            </a:pPr>
            <a:r>
              <a:rPr lang="en-US" sz="1950" spc="7" kern="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전체 접수 건수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5305425" y="1937742"/>
            <a:ext cx="363388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081"/>
              </a:lnSpc>
              <a:buNone/>
            </a:pPr>
            <a:r>
              <a:rPr lang="en-US" sz="1950" spc="7" kern="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사업소별 접수 건수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9467850" y="1937742"/>
            <a:ext cx="363388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081"/>
              </a:lnSpc>
              <a:buNone/>
            </a:pPr>
            <a:r>
              <a:rPr lang="en-US" sz="1950" spc="7" kern="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상태별 접수 건수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3630275" y="1937742"/>
            <a:ext cx="363388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081"/>
              </a:lnSpc>
              <a:buNone/>
            </a:pPr>
            <a:r>
              <a:rPr lang="en-US" sz="1950" spc="7" kern="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품목별 수량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914400" y="2852142"/>
            <a:ext cx="16459200" cy="1131570"/>
          </a:xfrm>
          <a:prstGeom prst="roundRect">
            <a:avLst>
              <a:gd name="adj" fmla="val 10101"/>
            </a:avLst>
          </a:prstGeom>
          <a:solidFill>
            <a:srgbClr val="0066FF">
              <a:alpha val="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219200" y="3118842"/>
            <a:ext cx="1743456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235"/>
              </a:lnSpc>
              <a:buNone/>
            </a:pPr>
            <a:r>
              <a:rPr lang="en-US" sz="1800" b="1" spc="7" kern="0" dirty="0">
                <a:solidFill>
                  <a:srgbClr val="0054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정합성 기준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19200" y="3374112"/>
            <a:ext cx="6818757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6667"/>
              </a:lnSpc>
              <a:buNone/>
            </a:pPr>
            <a:r>
              <a:rPr lang="en-US" sz="2400" b="1" spc="7" kern="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목록 total = 통계 total = DB 직접 집계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914400" y="9345930"/>
            <a:ext cx="16459200" cy="9525"/>
          </a:xfrm>
          <a:prstGeom prst="rect">
            <a:avLst/>
          </a:prstGeom>
          <a:solidFill>
            <a:srgbClr val="F4F4F5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9525000"/>
            <a:ext cx="2283309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235"/>
              </a:lnSpc>
              <a:buNone/>
            </a:pPr>
            <a:r>
              <a:rPr lang="en-US" sz="1800" spc="7" kern="0" dirty="0">
                <a:solidFill>
                  <a:srgbClr val="37383C">
                    <a:alpha val="2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참조 문서: [문서 경로]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256836" y="9525000"/>
            <a:ext cx="1873377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235"/>
              </a:lnSpc>
              <a:buNone/>
            </a:pPr>
            <a:r>
              <a:rPr lang="en-US" sz="1800" spc="7" kern="0" dirty="0">
                <a:solidFill>
                  <a:srgbClr val="37383C">
                    <a:alpha val="2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 ID: [QA-번호]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226606" y="9525000"/>
            <a:ext cx="3980271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235"/>
              </a:lnSpc>
              <a:buNone/>
            </a:pPr>
            <a:r>
              <a:rPr lang="en-US" sz="1800" spc="7" kern="0" dirty="0">
                <a:solidFill>
                  <a:srgbClr val="37383C">
                    <a:alpha val="2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자동화 테스트: [테스트 파일/테스트명]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111734" y="9525000"/>
            <a:ext cx="418445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235"/>
              </a:lnSpc>
              <a:buNone/>
            </a:pPr>
            <a:r>
              <a:rPr lang="en-US" sz="1800" spc="7" kern="0" dirty="0">
                <a:solidFill>
                  <a:srgbClr val="37383C">
                    <a:alpha val="2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증거: [스크린샷/API 응답/파일/DB 조회]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005840"/>
            <a:ext cx="33230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235"/>
              </a:lnSpc>
              <a:buNone/>
            </a:pPr>
            <a:r>
              <a:rPr lang="en-US" sz="1800" b="1" spc="7" kern="0" dirty="0">
                <a:solidFill>
                  <a:srgbClr val="006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322903" y="723900"/>
            <a:ext cx="3165646" cy="6423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733"/>
              </a:lnSpc>
              <a:buNone/>
            </a:pPr>
            <a:r>
              <a:rPr lang="en-US" sz="3900" b="1" spc="7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엑셀 다운로드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914400" y="1617702"/>
            <a:ext cx="1352514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235"/>
              </a:lnSpc>
              <a:buNone/>
            </a:pPr>
            <a:r>
              <a:rPr lang="en-US" sz="1800" b="1" spc="7" kern="0" dirty="0">
                <a:solidFill>
                  <a:srgbClr val="37383C">
                    <a:alpha val="61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필수 10개 열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04900" y="2170152"/>
            <a:ext cx="425004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235"/>
              </a:lnSpc>
              <a:buNone/>
            </a:pPr>
            <a:r>
              <a:rPr lang="en-US" sz="1800" spc="7" kern="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접수번호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696308" y="2170152"/>
            <a:ext cx="425004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235"/>
              </a:lnSpc>
              <a:buNone/>
            </a:pPr>
            <a:r>
              <a:rPr lang="en-US" sz="1800" spc="7" kern="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사업소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04900" y="2760702"/>
            <a:ext cx="425004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235"/>
              </a:lnSpc>
              <a:buNone/>
            </a:pPr>
            <a:r>
              <a:rPr lang="en-US" sz="1800" spc="7" kern="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수거 희망일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696308" y="2760702"/>
            <a:ext cx="425004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235"/>
              </a:lnSpc>
              <a:buNone/>
            </a:pPr>
            <a:r>
              <a:rPr lang="en-US" sz="1800" spc="7" kern="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수거 장소 유형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04900" y="3351252"/>
            <a:ext cx="425004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235"/>
              </a:lnSpc>
              <a:buNone/>
            </a:pPr>
            <a:r>
              <a:rPr lang="en-US" sz="1800" spc="7" kern="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수거 주소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696308" y="3351252"/>
            <a:ext cx="425004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235"/>
              </a:lnSpc>
              <a:buNone/>
            </a:pPr>
            <a:r>
              <a:rPr lang="en-US" sz="1800" spc="7" kern="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전동침대 수량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04900" y="3941802"/>
            <a:ext cx="425004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235"/>
              </a:lnSpc>
              <a:buNone/>
            </a:pPr>
            <a:r>
              <a:rPr lang="en-US" sz="1800" spc="7" kern="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휠체어 수량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696308" y="3941802"/>
            <a:ext cx="425004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235"/>
              </a:lnSpc>
              <a:buNone/>
            </a:pPr>
            <a:r>
              <a:rPr lang="en-US" sz="1800" spc="7" kern="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기타 소형 용구 수량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04900" y="4532352"/>
            <a:ext cx="425004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235"/>
              </a:lnSpc>
              <a:buNone/>
            </a:pPr>
            <a:r>
              <a:rPr lang="en-US" sz="1800" spc="7" kern="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 상태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696308" y="4532352"/>
            <a:ext cx="425004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235"/>
              </a:lnSpc>
              <a:buNone/>
            </a:pPr>
            <a:r>
              <a:rPr lang="en-US" sz="1800" spc="7" kern="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 완료일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382965" y="1617702"/>
            <a:ext cx="2767763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235"/>
              </a:lnSpc>
              <a:buNone/>
            </a:pPr>
            <a:r>
              <a:rPr lang="en-US" sz="1800" b="1" spc="7" kern="0" dirty="0">
                <a:solidFill>
                  <a:srgbClr val="FF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수식 인젝션 테스트 입력값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0382965" y="2036802"/>
            <a:ext cx="6990517" cy="495300"/>
          </a:xfrm>
          <a:prstGeom prst="roundRect">
            <a:avLst>
              <a:gd name="adj" fmla="val 15385"/>
            </a:avLst>
          </a:prstGeom>
          <a:solidFill>
            <a:srgbClr val="FF4242">
              <a:alpha val="6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10573465" y="2170152"/>
            <a:ext cx="681923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235"/>
              </a:lnSpc>
              <a:buNone/>
            </a:pPr>
            <a:r>
              <a:rPr lang="en-US" sz="1800" spc="7" kern="0" dirty="0">
                <a:solidFill>
                  <a:srgbClr val="1717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=SUM(1+1)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0382965" y="2627352"/>
            <a:ext cx="6990517" cy="495300"/>
          </a:xfrm>
          <a:prstGeom prst="roundRect">
            <a:avLst>
              <a:gd name="adj" fmla="val 15385"/>
            </a:avLst>
          </a:prstGeom>
          <a:solidFill>
            <a:srgbClr val="FF4242">
              <a:alpha val="6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10573465" y="2760702"/>
            <a:ext cx="681923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235"/>
              </a:lnSpc>
              <a:buNone/>
            </a:pPr>
            <a:r>
              <a:rPr lang="en-US" sz="1800" spc="7" kern="0" dirty="0">
                <a:solidFill>
                  <a:srgbClr val="1717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+cmd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0382965" y="3217902"/>
            <a:ext cx="6990517" cy="495300"/>
          </a:xfrm>
          <a:prstGeom prst="roundRect">
            <a:avLst>
              <a:gd name="adj" fmla="val 15385"/>
            </a:avLst>
          </a:prstGeom>
          <a:solidFill>
            <a:srgbClr val="FF4242">
              <a:alpha val="6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10573465" y="3351252"/>
            <a:ext cx="681923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235"/>
              </a:lnSpc>
              <a:buNone/>
            </a:pPr>
            <a:r>
              <a:rPr lang="en-US" sz="1800" spc="7" kern="0" dirty="0">
                <a:solidFill>
                  <a:srgbClr val="1717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-cmd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0382965" y="3808452"/>
            <a:ext cx="6990517" cy="495300"/>
          </a:xfrm>
          <a:prstGeom prst="roundRect">
            <a:avLst>
              <a:gd name="adj" fmla="val 15385"/>
            </a:avLst>
          </a:prstGeom>
          <a:solidFill>
            <a:srgbClr val="FF4242">
              <a:alpha val="6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10573465" y="3941802"/>
            <a:ext cx="681923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235"/>
              </a:lnSpc>
              <a:buNone/>
            </a:pPr>
            <a:r>
              <a:rPr lang="en-US" sz="1800" spc="7" kern="0" dirty="0">
                <a:solidFill>
                  <a:srgbClr val="1717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@cmd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0382965" y="4494252"/>
            <a:ext cx="6990517" cy="571500"/>
          </a:xfrm>
          <a:prstGeom prst="roundRect">
            <a:avLst>
              <a:gd name="adj" fmla="val 13333"/>
            </a:avLst>
          </a:prstGeom>
          <a:solidFill>
            <a:srgbClr val="00BF40">
              <a:alpha val="1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10573465" y="4665702"/>
            <a:ext cx="681923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235"/>
              </a:lnSpc>
              <a:buNone/>
            </a:pPr>
            <a:r>
              <a:rPr lang="en-US" sz="1800" b="1" spc="7" kern="0" dirty="0">
                <a:solidFill>
                  <a:srgbClr val="00BF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기대 결과: 수식으로 실행되지 않는 텍스트 셀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914400" y="9345930"/>
            <a:ext cx="16459200" cy="9525"/>
          </a:xfrm>
          <a:prstGeom prst="rect">
            <a:avLst/>
          </a:prstGeom>
          <a:solidFill>
            <a:srgbClr val="F4F4F5"/>
          </a:solidFill>
          <a:ln/>
        </p:spPr>
      </p:sp>
      <p:sp>
        <p:nvSpPr>
          <p:cNvPr id="27" name="Text 25"/>
          <p:cNvSpPr/>
          <p:nvPr/>
        </p:nvSpPr>
        <p:spPr>
          <a:xfrm>
            <a:off x="914400" y="9525000"/>
            <a:ext cx="2283309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235"/>
              </a:lnSpc>
              <a:buNone/>
            </a:pPr>
            <a:r>
              <a:rPr lang="en-US" sz="1800" spc="7" kern="0" dirty="0">
                <a:solidFill>
                  <a:srgbClr val="37383C">
                    <a:alpha val="2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참조 문서: [문서 경로]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3256836" y="9525000"/>
            <a:ext cx="1873377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235"/>
              </a:lnSpc>
              <a:buNone/>
            </a:pPr>
            <a:r>
              <a:rPr lang="en-US" sz="1800" spc="7" kern="0" dirty="0">
                <a:solidFill>
                  <a:srgbClr val="37383C">
                    <a:alpha val="2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 ID: [QA-번호]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226606" y="9525000"/>
            <a:ext cx="3980271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235"/>
              </a:lnSpc>
              <a:buNone/>
            </a:pPr>
            <a:r>
              <a:rPr lang="en-US" sz="1800" spc="7" kern="0" dirty="0">
                <a:solidFill>
                  <a:srgbClr val="37383C">
                    <a:alpha val="2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자동화 테스트: [테스트 파일/테스트명]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9111734" y="9525000"/>
            <a:ext cx="418445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235"/>
              </a:lnSpc>
              <a:buNone/>
            </a:pPr>
            <a:r>
              <a:rPr lang="en-US" sz="1800" spc="7" kern="0" dirty="0">
                <a:solidFill>
                  <a:srgbClr val="37383C">
                    <a:alpha val="2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증거: [스크린샷/API 응답/파일/DB 조회]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005840"/>
            <a:ext cx="33230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235"/>
              </a:lnSpc>
              <a:buNone/>
            </a:pPr>
            <a:r>
              <a:rPr lang="en-US" sz="1800" b="1" spc="7" kern="0" dirty="0">
                <a:solidFill>
                  <a:srgbClr val="006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322903" y="723900"/>
            <a:ext cx="3317963" cy="6423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733"/>
              </a:lnSpc>
              <a:buNone/>
            </a:pPr>
            <a:r>
              <a:rPr lang="en-US" sz="3900" b="1" spc="7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재시작 후 보존</a:t>
            </a:r>
            <a:endParaRPr lang="en-US" sz="3900" dirty="0"/>
          </a:p>
        </p:txBody>
      </p:sp>
      <p:sp>
        <p:nvSpPr>
          <p:cNvPr id="4" name="Shape 2"/>
          <p:cNvSpPr/>
          <p:nvPr/>
        </p:nvSpPr>
        <p:spPr>
          <a:xfrm>
            <a:off x="914400" y="1632942"/>
            <a:ext cx="1040844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1085850" y="1690092"/>
            <a:ext cx="802029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lnSpc>
                <a:spcPct val="88235"/>
              </a:lnSpc>
              <a:buNone/>
            </a:pPr>
            <a:r>
              <a:rPr lang="en-US" sz="1800" b="1" spc="7" kern="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앱 종료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069544" y="1690092"/>
            <a:ext cx="32480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081"/>
              </a:lnSpc>
              <a:buNone/>
            </a:pPr>
            <a:r>
              <a:rPr lang="en-US" sz="1950" spc="7" kern="0" dirty="0">
                <a:solidFill>
                  <a:srgbClr val="37383C">
                    <a:alpha val="2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2432447" y="1632942"/>
            <a:ext cx="1252061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2603897" y="1690092"/>
            <a:ext cx="1034367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lnSpc>
                <a:spcPct val="88235"/>
              </a:lnSpc>
              <a:buNone/>
            </a:pPr>
            <a:r>
              <a:rPr lang="en-US" sz="1800" b="1" spc="7" kern="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앱 재시작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798808" y="1690092"/>
            <a:ext cx="32480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081"/>
              </a:lnSpc>
              <a:buNone/>
            </a:pPr>
            <a:r>
              <a:rPr lang="en-US" sz="1950" spc="7" kern="0" dirty="0">
                <a:solidFill>
                  <a:srgbClr val="37383C">
                    <a:alpha val="2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4161711" y="1632942"/>
            <a:ext cx="1463278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4333161" y="1690092"/>
            <a:ext cx="1266706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lnSpc>
                <a:spcPct val="88235"/>
              </a:lnSpc>
              <a:buNone/>
            </a:pPr>
            <a:r>
              <a:rPr lang="en-US" sz="1800" b="1" spc="7" kern="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접수 재조회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739289" y="1690092"/>
            <a:ext cx="32480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081"/>
              </a:lnSpc>
              <a:buNone/>
            </a:pPr>
            <a:r>
              <a:rPr lang="en-US" sz="1950" spc="7" kern="0" dirty="0">
                <a:solidFill>
                  <a:srgbClr val="37383C">
                    <a:alpha val="2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6102191" y="1632942"/>
            <a:ext cx="1463278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6273641" y="1690092"/>
            <a:ext cx="1266706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lnSpc>
                <a:spcPct val="88235"/>
              </a:lnSpc>
              <a:buNone/>
            </a:pPr>
            <a:r>
              <a:rPr lang="en-US" sz="1800" b="1" spc="7" kern="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상태 재조회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679770" y="1690092"/>
            <a:ext cx="32480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081"/>
              </a:lnSpc>
              <a:buNone/>
            </a:pPr>
            <a:r>
              <a:rPr lang="en-US" sz="1950" spc="7" kern="0" dirty="0">
                <a:solidFill>
                  <a:srgbClr val="37383C">
                    <a:alpha val="2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8042672" y="1632942"/>
            <a:ext cx="1950006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8214122" y="1690092"/>
            <a:ext cx="1802106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lnSpc>
                <a:spcPct val="88235"/>
              </a:lnSpc>
              <a:buNone/>
            </a:pPr>
            <a:r>
              <a:rPr lang="en-US" sz="1800" b="1" spc="7" kern="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상태 이력 재조회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106977" y="1690092"/>
            <a:ext cx="32480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081"/>
              </a:lnSpc>
              <a:buNone/>
            </a:pPr>
            <a:r>
              <a:rPr lang="en-US" sz="1950" spc="7" kern="0" dirty="0">
                <a:solidFill>
                  <a:srgbClr val="37383C">
                    <a:alpha val="2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10469881" y="1632942"/>
            <a:ext cx="1674376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10641331" y="1690092"/>
            <a:ext cx="1498914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lnSpc>
                <a:spcPct val="88235"/>
              </a:lnSpc>
              <a:buNone/>
            </a:pPr>
            <a:r>
              <a:rPr lang="en-US" sz="1800" b="1" spc="7" kern="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완료일 재조회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14400" y="2433042"/>
            <a:ext cx="1810512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235"/>
              </a:lnSpc>
              <a:buNone/>
            </a:pPr>
            <a:r>
              <a:rPr lang="en-US" sz="1800" b="1" spc="7" kern="0" dirty="0">
                <a:solidFill>
                  <a:srgbClr val="37383C">
                    <a:alpha val="61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기대 결과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914400" y="2814042"/>
            <a:ext cx="3169920" cy="647700"/>
          </a:xfrm>
          <a:prstGeom prst="roundRect">
            <a:avLst>
              <a:gd name="adj" fmla="val 17647"/>
            </a:avLst>
          </a:prstGeom>
          <a:solidFill>
            <a:srgbClr val="00BF40">
              <a:alpha val="8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1038301" y="3023592"/>
            <a:ext cx="292211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81081"/>
              </a:lnSpc>
              <a:buNone/>
            </a:pPr>
            <a:r>
              <a:rPr lang="en-US" sz="1950" spc="7" kern="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접수 데이터 유지</a:t>
            </a:r>
            <a:endParaRPr lang="en-US" sz="1950" dirty="0"/>
          </a:p>
        </p:txBody>
      </p:sp>
      <p:sp>
        <p:nvSpPr>
          <p:cNvPr id="24" name="Shape 22"/>
          <p:cNvSpPr/>
          <p:nvPr/>
        </p:nvSpPr>
        <p:spPr>
          <a:xfrm>
            <a:off x="4236720" y="2814042"/>
            <a:ext cx="3169920" cy="647700"/>
          </a:xfrm>
          <a:prstGeom prst="roundRect">
            <a:avLst>
              <a:gd name="adj" fmla="val 17647"/>
            </a:avLst>
          </a:prstGeom>
          <a:solidFill>
            <a:srgbClr val="00BF40">
              <a:alpha val="8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4360621" y="3023592"/>
            <a:ext cx="292211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81081"/>
              </a:lnSpc>
              <a:buNone/>
            </a:pPr>
            <a:r>
              <a:rPr lang="en-US" sz="1950" spc="7" kern="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DELIVERED 상태 유지</a:t>
            </a:r>
            <a:endParaRPr lang="en-US" sz="1950" dirty="0"/>
          </a:p>
        </p:txBody>
      </p:sp>
      <p:sp>
        <p:nvSpPr>
          <p:cNvPr id="26" name="Shape 24"/>
          <p:cNvSpPr/>
          <p:nvPr/>
        </p:nvSpPr>
        <p:spPr>
          <a:xfrm>
            <a:off x="7559040" y="2814042"/>
            <a:ext cx="3169920" cy="647700"/>
          </a:xfrm>
          <a:prstGeom prst="roundRect">
            <a:avLst>
              <a:gd name="adj" fmla="val 17647"/>
            </a:avLst>
          </a:prstGeom>
          <a:solidFill>
            <a:srgbClr val="00BF40">
              <a:alpha val="8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7682942" y="3023592"/>
            <a:ext cx="292211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81081"/>
              </a:lnSpc>
              <a:buNone/>
            </a:pPr>
            <a:r>
              <a:rPr lang="en-US" sz="1950" spc="7" kern="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이력 4건 유지</a:t>
            </a:r>
            <a:endParaRPr lang="en-US" sz="1950" dirty="0"/>
          </a:p>
        </p:txBody>
      </p:sp>
      <p:sp>
        <p:nvSpPr>
          <p:cNvPr id="28" name="Shape 26"/>
          <p:cNvSpPr/>
          <p:nvPr/>
        </p:nvSpPr>
        <p:spPr>
          <a:xfrm>
            <a:off x="10881360" y="2814042"/>
            <a:ext cx="3169920" cy="647700"/>
          </a:xfrm>
          <a:prstGeom prst="roundRect">
            <a:avLst>
              <a:gd name="adj" fmla="val 17647"/>
            </a:avLst>
          </a:prstGeom>
          <a:solidFill>
            <a:srgbClr val="00BF40">
              <a:alpha val="8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11005261" y="3023592"/>
            <a:ext cx="292211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81081"/>
              </a:lnSpc>
              <a:buNone/>
            </a:pPr>
            <a:r>
              <a:rPr lang="en-US" sz="1950" spc="7" kern="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sequence 1~4 유지</a:t>
            </a:r>
            <a:endParaRPr lang="en-US" sz="1950" dirty="0"/>
          </a:p>
        </p:txBody>
      </p:sp>
      <p:sp>
        <p:nvSpPr>
          <p:cNvPr id="30" name="Shape 28"/>
          <p:cNvSpPr/>
          <p:nvPr/>
        </p:nvSpPr>
        <p:spPr>
          <a:xfrm>
            <a:off x="14203681" y="2814042"/>
            <a:ext cx="3169920" cy="647700"/>
          </a:xfrm>
          <a:prstGeom prst="roundRect">
            <a:avLst>
              <a:gd name="adj" fmla="val 17647"/>
            </a:avLst>
          </a:prstGeom>
          <a:solidFill>
            <a:srgbClr val="00BF40">
              <a:alpha val="8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14327582" y="3023592"/>
            <a:ext cx="292211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81081"/>
              </a:lnSpc>
              <a:buNone/>
            </a:pPr>
            <a:r>
              <a:rPr lang="en-US" sz="1950" spc="7" kern="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completion_date 유지</a:t>
            </a:r>
            <a:endParaRPr lang="en-US" sz="1950" dirty="0"/>
          </a:p>
        </p:txBody>
      </p:sp>
      <p:sp>
        <p:nvSpPr>
          <p:cNvPr id="32" name="Shape 30"/>
          <p:cNvSpPr/>
          <p:nvPr/>
        </p:nvSpPr>
        <p:spPr>
          <a:xfrm>
            <a:off x="914400" y="9345930"/>
            <a:ext cx="16459200" cy="9525"/>
          </a:xfrm>
          <a:prstGeom prst="rect">
            <a:avLst/>
          </a:prstGeom>
          <a:solidFill>
            <a:srgbClr val="F4F4F5"/>
          </a:solidFill>
          <a:ln/>
        </p:spPr>
      </p:sp>
      <p:sp>
        <p:nvSpPr>
          <p:cNvPr id="33" name="Text 31"/>
          <p:cNvSpPr/>
          <p:nvPr/>
        </p:nvSpPr>
        <p:spPr>
          <a:xfrm>
            <a:off x="914400" y="9525000"/>
            <a:ext cx="2283309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235"/>
              </a:lnSpc>
              <a:buNone/>
            </a:pPr>
            <a:r>
              <a:rPr lang="en-US" sz="1800" spc="7" kern="0" dirty="0">
                <a:solidFill>
                  <a:srgbClr val="37383C">
                    <a:alpha val="2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참조 문서: [문서 경로]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3256836" y="9525000"/>
            <a:ext cx="1873377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235"/>
              </a:lnSpc>
              <a:buNone/>
            </a:pPr>
            <a:r>
              <a:rPr lang="en-US" sz="1800" spc="7" kern="0" dirty="0">
                <a:solidFill>
                  <a:srgbClr val="37383C">
                    <a:alpha val="2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 ID: [QA-번호]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5226606" y="9525000"/>
            <a:ext cx="3980271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235"/>
              </a:lnSpc>
              <a:buNone/>
            </a:pPr>
            <a:r>
              <a:rPr lang="en-US" sz="1800" spc="7" kern="0" dirty="0">
                <a:solidFill>
                  <a:srgbClr val="37383C">
                    <a:alpha val="2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자동화 테스트: [테스트 파일/테스트명]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9111734" y="9525000"/>
            <a:ext cx="418445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235"/>
              </a:lnSpc>
              <a:buNone/>
            </a:pPr>
            <a:r>
              <a:rPr lang="en-US" sz="1800" spc="7" kern="0" dirty="0">
                <a:solidFill>
                  <a:srgbClr val="37383C">
                    <a:alpha val="2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증거: [스크린샷/API 응답/파일/DB 조회]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005840"/>
            <a:ext cx="33230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235"/>
              </a:lnSpc>
              <a:buNone/>
            </a:pPr>
            <a:r>
              <a:rPr lang="en-US" sz="1800" b="1" spc="7" kern="0" dirty="0">
                <a:solidFill>
                  <a:srgbClr val="006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322903" y="723900"/>
            <a:ext cx="3317963" cy="6423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733"/>
              </a:lnSpc>
              <a:buNone/>
            </a:pPr>
            <a:r>
              <a:rPr lang="en-US" sz="3900" b="1" spc="7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결과 기록 방법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1333500" y="2013942"/>
            <a:ext cx="29337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081"/>
              </a:lnSpc>
              <a:buNone/>
            </a:pPr>
            <a:r>
              <a:rPr lang="en-US" sz="1950" b="1" spc="7" kern="0" dirty="0">
                <a:solidFill>
                  <a:srgbClr val="37383C">
                    <a:alpha val="61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테스트 ID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4191000" y="2013942"/>
            <a:ext cx="1403985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081"/>
              </a:lnSpc>
              <a:buNone/>
            </a:pPr>
            <a:r>
              <a:rPr lang="en-US" sz="1950" spc="7" kern="0" dirty="0">
                <a:solidFill>
                  <a:srgbClr val="37383C">
                    <a:alpha val="2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[QA-번호]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333500" y="2433042"/>
            <a:ext cx="29337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081"/>
              </a:lnSpc>
              <a:buNone/>
            </a:pPr>
            <a:r>
              <a:rPr lang="en-US" sz="1950" b="1" spc="7" kern="0" dirty="0">
                <a:solidFill>
                  <a:srgbClr val="37383C">
                    <a:alpha val="61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입력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4191000" y="2433042"/>
            <a:ext cx="1403985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081"/>
              </a:lnSpc>
              <a:buNone/>
            </a:pPr>
            <a:r>
              <a:rPr lang="en-US" sz="1950" spc="7" kern="0" dirty="0">
                <a:solidFill>
                  <a:srgbClr val="37383C">
                    <a:alpha val="2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[실제 입력한 값]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333500" y="2852142"/>
            <a:ext cx="29337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081"/>
              </a:lnSpc>
              <a:buNone/>
            </a:pPr>
            <a:r>
              <a:rPr lang="en-US" sz="1950" b="1" spc="7" kern="0" dirty="0">
                <a:solidFill>
                  <a:srgbClr val="37383C">
                    <a:alpha val="61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기대 결과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4191000" y="2852142"/>
            <a:ext cx="1403985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081"/>
              </a:lnSpc>
              <a:buNone/>
            </a:pPr>
            <a:r>
              <a:rPr lang="en-US" sz="1950" spc="7" kern="0" dirty="0">
                <a:solidFill>
                  <a:srgbClr val="37383C">
                    <a:alpha val="2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[본 문서에 정의된 기대 결과]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333500" y="3271242"/>
            <a:ext cx="29337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081"/>
              </a:lnSpc>
              <a:buNone/>
            </a:pPr>
            <a:r>
              <a:rPr lang="en-US" sz="1950" b="1" spc="7" kern="0" dirty="0">
                <a:solidFill>
                  <a:srgbClr val="37383C">
                    <a:alpha val="61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실제 결과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4191000" y="3271242"/>
            <a:ext cx="1403985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081"/>
              </a:lnSpc>
              <a:buNone/>
            </a:pPr>
            <a:r>
              <a:rPr lang="en-US" sz="1950" spc="7" kern="0" dirty="0">
                <a:solidFill>
                  <a:srgbClr val="37383C">
                    <a:alpha val="2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[화면에서 확인한 값]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333500" y="3747492"/>
            <a:ext cx="29337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081"/>
              </a:lnSpc>
              <a:buNone/>
            </a:pPr>
            <a:r>
              <a:rPr lang="en-US" sz="1950" b="1" spc="7" kern="0" dirty="0">
                <a:solidFill>
                  <a:srgbClr val="37383C">
                    <a:alpha val="61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판정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4191000" y="3690342"/>
            <a:ext cx="765334" cy="342900"/>
          </a:xfrm>
          <a:prstGeom prst="roundRect">
            <a:avLst>
              <a:gd name="adj" fmla="val 50000"/>
            </a:avLst>
          </a:prstGeom>
          <a:solidFill>
            <a:srgbClr val="00BF40">
              <a:alpha val="12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4362450" y="3747492"/>
            <a:ext cx="498967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lnSpc>
                <a:spcPct val="88235"/>
              </a:lnSpc>
              <a:buNone/>
            </a:pPr>
            <a:r>
              <a:rPr lang="en-US" sz="1800" b="1" spc="7" kern="0" dirty="0">
                <a:solidFill>
                  <a:srgbClr val="00BF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통과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070634" y="3690342"/>
            <a:ext cx="765334" cy="342900"/>
          </a:xfrm>
          <a:prstGeom prst="roundRect">
            <a:avLst>
              <a:gd name="adj" fmla="val 50000"/>
            </a:avLst>
          </a:prstGeom>
          <a:solidFill>
            <a:srgbClr val="FF4242">
              <a:alpha val="1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5242084" y="3747492"/>
            <a:ext cx="498967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lnSpc>
                <a:spcPct val="88235"/>
              </a:lnSpc>
              <a:buNone/>
            </a:pPr>
            <a:r>
              <a:rPr lang="en-US" sz="1800" b="1" spc="7" kern="0" dirty="0">
                <a:solidFill>
                  <a:srgbClr val="FF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실패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5950268" y="3690342"/>
            <a:ext cx="976551" cy="342900"/>
          </a:xfrm>
          <a:prstGeom prst="roundRect">
            <a:avLst>
              <a:gd name="adj" fmla="val 50000"/>
            </a:avLst>
          </a:prstGeom>
          <a:solidFill>
            <a:srgbClr val="FF9E00">
              <a:alpha val="14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6121718" y="3747492"/>
            <a:ext cx="731306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lnSpc>
                <a:spcPct val="88235"/>
              </a:lnSpc>
              <a:buNone/>
            </a:pPr>
            <a:r>
              <a:rPr lang="en-US" sz="1800" b="1" spc="7" kern="0" dirty="0">
                <a:solidFill>
                  <a:srgbClr val="FF9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조건부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7041118" y="3690342"/>
            <a:ext cx="976551" cy="342900"/>
          </a:xfrm>
          <a:prstGeom prst="roundRect">
            <a:avLst>
              <a:gd name="adj" fmla="val 50000"/>
            </a:avLst>
          </a:prstGeom>
          <a:solidFill>
            <a:srgbClr val="70737C">
              <a:alpha val="8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7212568" y="3747492"/>
            <a:ext cx="731306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lnSpc>
                <a:spcPct val="88235"/>
              </a:lnSpc>
              <a:buNone/>
            </a:pPr>
            <a:r>
              <a:rPr lang="en-US" sz="1800" b="1" spc="7" kern="0" dirty="0">
                <a:solidFill>
                  <a:srgbClr val="37383C">
                    <a:alpha val="61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미검증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333500" y="4223742"/>
            <a:ext cx="29337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081"/>
              </a:lnSpc>
              <a:buNone/>
            </a:pPr>
            <a:r>
              <a:rPr lang="en-US" sz="1950" b="1" spc="7" kern="0" dirty="0">
                <a:solidFill>
                  <a:srgbClr val="37383C">
                    <a:alpha val="61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증거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4191000" y="4223742"/>
            <a:ext cx="1403985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081"/>
              </a:lnSpc>
              <a:buNone/>
            </a:pPr>
            <a:r>
              <a:rPr lang="en-US" sz="1950" spc="7" kern="0" dirty="0">
                <a:solidFill>
                  <a:srgbClr val="37383C">
                    <a:alpha val="2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[화면 / 파일 / API 응답 / DB 조회]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1333500" y="4642842"/>
            <a:ext cx="29337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081"/>
              </a:lnSpc>
              <a:buNone/>
            </a:pPr>
            <a:r>
              <a:rPr lang="en-US" sz="1950" b="1" spc="7" kern="0" dirty="0">
                <a:solidFill>
                  <a:srgbClr val="37383C">
                    <a:alpha val="61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비고</a:t>
            </a:r>
            <a:endParaRPr lang="en-US" sz="1950" dirty="0"/>
          </a:p>
        </p:txBody>
      </p:sp>
      <p:sp>
        <p:nvSpPr>
          <p:cNvPr id="24" name="Text 22"/>
          <p:cNvSpPr/>
          <p:nvPr/>
        </p:nvSpPr>
        <p:spPr>
          <a:xfrm>
            <a:off x="4191000" y="4642842"/>
            <a:ext cx="1403985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081"/>
              </a:lnSpc>
              <a:buNone/>
            </a:pPr>
            <a:r>
              <a:rPr lang="en-US" sz="1950" spc="7" kern="0" dirty="0">
                <a:solidFill>
                  <a:srgbClr val="37383C">
                    <a:alpha val="2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[특이사항]</a:t>
            </a:r>
            <a:endParaRPr lang="en-US" sz="1950" dirty="0"/>
          </a:p>
        </p:txBody>
      </p:sp>
      <p:sp>
        <p:nvSpPr>
          <p:cNvPr id="25" name="Shape 23"/>
          <p:cNvSpPr/>
          <p:nvPr/>
        </p:nvSpPr>
        <p:spPr>
          <a:xfrm>
            <a:off x="914400" y="9345930"/>
            <a:ext cx="16459200" cy="9525"/>
          </a:xfrm>
          <a:prstGeom prst="rect">
            <a:avLst/>
          </a:prstGeom>
          <a:solidFill>
            <a:srgbClr val="F4F4F5"/>
          </a:solidFill>
          <a:ln/>
        </p:spPr>
      </p:sp>
      <p:sp>
        <p:nvSpPr>
          <p:cNvPr id="26" name="Text 24"/>
          <p:cNvSpPr/>
          <p:nvPr/>
        </p:nvSpPr>
        <p:spPr>
          <a:xfrm>
            <a:off x="914400" y="9525000"/>
            <a:ext cx="2283309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235"/>
              </a:lnSpc>
              <a:buNone/>
            </a:pPr>
            <a:r>
              <a:rPr lang="en-US" sz="1800" spc="7" kern="0" dirty="0">
                <a:solidFill>
                  <a:srgbClr val="37383C">
                    <a:alpha val="2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참조 문서: [문서 경로]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3256836" y="9525000"/>
            <a:ext cx="1873377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235"/>
              </a:lnSpc>
              <a:buNone/>
            </a:pPr>
            <a:r>
              <a:rPr lang="en-US" sz="1800" spc="7" kern="0" dirty="0">
                <a:solidFill>
                  <a:srgbClr val="37383C">
                    <a:alpha val="2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 ID: [QA-번호]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226606" y="9525000"/>
            <a:ext cx="3980271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235"/>
              </a:lnSpc>
              <a:buNone/>
            </a:pPr>
            <a:r>
              <a:rPr lang="en-US" sz="1800" spc="7" kern="0" dirty="0">
                <a:solidFill>
                  <a:srgbClr val="37383C">
                    <a:alpha val="2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자동화 테스트: [테스트 파일/테스트명]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9111734" y="9525000"/>
            <a:ext cx="418445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235"/>
              </a:lnSpc>
              <a:buNone/>
            </a:pPr>
            <a:r>
              <a:rPr lang="en-US" sz="1800" spc="7" kern="0" dirty="0">
                <a:solidFill>
                  <a:srgbClr val="37383C">
                    <a:alpha val="2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증거: [스크린샷/API 응답/파일/DB 조회]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005840"/>
            <a:ext cx="33230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235"/>
              </a:lnSpc>
              <a:buNone/>
            </a:pPr>
            <a:r>
              <a:rPr lang="en-US" sz="1800" b="1" spc="7" kern="0" dirty="0">
                <a:solidFill>
                  <a:srgbClr val="006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322903" y="723900"/>
            <a:ext cx="5006935" cy="6423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733"/>
              </a:lnSpc>
              <a:buNone/>
            </a:pPr>
            <a:r>
              <a:rPr lang="en-US" sz="3900" b="1" spc="7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현재 미검증·위험 항목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1162050" y="1861542"/>
            <a:ext cx="3094399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081"/>
              </a:lnSpc>
              <a:buNone/>
            </a:pPr>
            <a:r>
              <a:rPr lang="en-US" sz="1950" spc="7" kern="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 Chrome 브라우저 검증</a:t>
            </a:r>
            <a:endParaRPr lang="en-US" sz="1950" dirty="0"/>
          </a:p>
        </p:txBody>
      </p:sp>
      <p:sp>
        <p:nvSpPr>
          <p:cNvPr id="5" name="Shape 3"/>
          <p:cNvSpPr/>
          <p:nvPr/>
        </p:nvSpPr>
        <p:spPr>
          <a:xfrm>
            <a:off x="16149399" y="1804392"/>
            <a:ext cx="976551" cy="342900"/>
          </a:xfrm>
          <a:prstGeom prst="roundRect">
            <a:avLst>
              <a:gd name="adj" fmla="val 50000"/>
            </a:avLst>
          </a:prstGeom>
          <a:solidFill>
            <a:srgbClr val="70737C">
              <a:alpha val="8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6320849" y="1861542"/>
            <a:ext cx="731306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lnSpc>
                <a:spcPct val="88235"/>
              </a:lnSpc>
              <a:buNone/>
            </a:pPr>
            <a:r>
              <a:rPr lang="en-US" sz="1800" b="1" spc="7" kern="0" dirty="0">
                <a:solidFill>
                  <a:srgbClr val="37383C">
                    <a:alpha val="61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미검증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62050" y="2661642"/>
            <a:ext cx="215823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081"/>
              </a:lnSpc>
              <a:buNone/>
            </a:pPr>
            <a:r>
              <a:rPr lang="en-US" sz="1950" spc="7" kern="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모바일 375px 검증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16149399" y="2604492"/>
            <a:ext cx="976551" cy="342900"/>
          </a:xfrm>
          <a:prstGeom prst="roundRect">
            <a:avLst>
              <a:gd name="adj" fmla="val 50000"/>
            </a:avLst>
          </a:prstGeom>
          <a:solidFill>
            <a:srgbClr val="70737C">
              <a:alpha val="8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6320849" y="2661642"/>
            <a:ext cx="731306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lnSpc>
                <a:spcPct val="88235"/>
              </a:lnSpc>
              <a:buNone/>
            </a:pPr>
            <a:r>
              <a:rPr lang="en-US" sz="1800" b="1" spc="7" kern="0" dirty="0">
                <a:solidFill>
                  <a:srgbClr val="37383C">
                    <a:alpha val="61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미검증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62050" y="3461742"/>
            <a:ext cx="3509046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081"/>
              </a:lnSpc>
              <a:buNone/>
            </a:pPr>
            <a:r>
              <a:rPr lang="en-US" sz="1950" spc="7" kern="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label·aria-live 실제 DOM 검증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16149399" y="3404592"/>
            <a:ext cx="976551" cy="342900"/>
          </a:xfrm>
          <a:prstGeom prst="roundRect">
            <a:avLst>
              <a:gd name="adj" fmla="val 50000"/>
            </a:avLst>
          </a:prstGeom>
          <a:solidFill>
            <a:srgbClr val="70737C">
              <a:alpha val="8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16320849" y="3461742"/>
            <a:ext cx="731306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lnSpc>
                <a:spcPct val="88235"/>
              </a:lnSpc>
              <a:buNone/>
            </a:pPr>
            <a:r>
              <a:rPr lang="en-US" sz="1800" b="1" spc="7" kern="0" dirty="0">
                <a:solidFill>
                  <a:srgbClr val="37383C">
                    <a:alpha val="61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미검증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62050" y="4261842"/>
            <a:ext cx="3713357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081"/>
              </a:lnSpc>
              <a:buNone/>
            </a:pPr>
            <a:r>
              <a:rPr lang="en-US" sz="1950" spc="7" kern="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화면 버튼을 통한 PDF·엑셀 검증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16149399" y="4204692"/>
            <a:ext cx="976551" cy="342900"/>
          </a:xfrm>
          <a:prstGeom prst="roundRect">
            <a:avLst>
              <a:gd name="adj" fmla="val 50000"/>
            </a:avLst>
          </a:prstGeom>
          <a:solidFill>
            <a:srgbClr val="70737C">
              <a:alpha val="8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6320849" y="4261842"/>
            <a:ext cx="731306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lnSpc>
                <a:spcPct val="88235"/>
              </a:lnSpc>
              <a:buNone/>
            </a:pPr>
            <a:r>
              <a:rPr lang="en-US" sz="1800" b="1" spc="7" kern="0" dirty="0">
                <a:solidFill>
                  <a:srgbClr val="37383C">
                    <a:alpha val="61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미검증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14400" y="4833342"/>
            <a:ext cx="16459200" cy="685800"/>
          </a:xfrm>
          <a:prstGeom prst="roundRect">
            <a:avLst>
              <a:gd name="adj" fmla="val 16667"/>
            </a:avLst>
          </a:prstGeom>
          <a:solidFill>
            <a:srgbClr val="FF4242">
              <a:alpha val="6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1162050" y="5061942"/>
            <a:ext cx="282958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081"/>
              </a:lnSpc>
              <a:buNone/>
            </a:pPr>
            <a:r>
              <a:rPr lang="en-US" sz="1950" spc="7" kern="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 실동시 쓰기 경쟁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16360616" y="5004792"/>
            <a:ext cx="765334" cy="342900"/>
          </a:xfrm>
          <a:prstGeom prst="roundRect">
            <a:avLst>
              <a:gd name="adj" fmla="val 50000"/>
            </a:avLst>
          </a:prstGeom>
          <a:solidFill>
            <a:srgbClr val="FF4242">
              <a:alpha val="12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16532066" y="5061942"/>
            <a:ext cx="498967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lnSpc>
                <a:spcPct val="88235"/>
              </a:lnSpc>
              <a:buNone/>
            </a:pPr>
            <a:r>
              <a:rPr lang="en-US" sz="1800" b="1" spc="7" kern="0" dirty="0">
                <a:solidFill>
                  <a:srgbClr val="FF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위험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914400" y="5633442"/>
            <a:ext cx="16459200" cy="685800"/>
          </a:xfrm>
          <a:prstGeom prst="roundRect">
            <a:avLst>
              <a:gd name="adj" fmla="val 16667"/>
            </a:avLst>
          </a:prstGeom>
          <a:solidFill>
            <a:srgbClr val="FF4242">
              <a:alpha val="6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1162050" y="5862042"/>
            <a:ext cx="439976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081"/>
              </a:lnSpc>
              <a:buNone/>
            </a:pPr>
            <a:r>
              <a:rPr lang="en-US" sz="1950" spc="7" kern="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Alembic downgrade 데이터 손실 위험</a:t>
            </a:r>
            <a:endParaRPr lang="en-US" sz="1950" dirty="0"/>
          </a:p>
        </p:txBody>
      </p:sp>
      <p:sp>
        <p:nvSpPr>
          <p:cNvPr id="22" name="Shape 20"/>
          <p:cNvSpPr/>
          <p:nvPr/>
        </p:nvSpPr>
        <p:spPr>
          <a:xfrm>
            <a:off x="16360616" y="5804892"/>
            <a:ext cx="765334" cy="342900"/>
          </a:xfrm>
          <a:prstGeom prst="roundRect">
            <a:avLst>
              <a:gd name="adj" fmla="val 50000"/>
            </a:avLst>
          </a:prstGeom>
          <a:solidFill>
            <a:srgbClr val="FF4242">
              <a:alpha val="12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16532066" y="5862042"/>
            <a:ext cx="498967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lnSpc>
                <a:spcPct val="88235"/>
              </a:lnSpc>
              <a:buNone/>
            </a:pPr>
            <a:r>
              <a:rPr lang="en-US" sz="1800" b="1" spc="7" kern="0" dirty="0">
                <a:solidFill>
                  <a:srgbClr val="FF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위험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914400" y="6433542"/>
            <a:ext cx="16459200" cy="685800"/>
          </a:xfrm>
          <a:prstGeom prst="roundRect">
            <a:avLst>
              <a:gd name="adj" fmla="val 16667"/>
            </a:avLst>
          </a:prstGeom>
          <a:solidFill>
            <a:srgbClr val="FF9E00">
              <a:alpha val="8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1162050" y="6662142"/>
            <a:ext cx="3989046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081"/>
              </a:lnSpc>
              <a:buNone/>
            </a:pPr>
            <a:r>
              <a:rPr lang="en-US" sz="1950" spc="7" kern="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 테스트 데이터 초기화 필요</a:t>
            </a:r>
            <a:endParaRPr lang="en-US" sz="1950" dirty="0"/>
          </a:p>
        </p:txBody>
      </p:sp>
      <p:sp>
        <p:nvSpPr>
          <p:cNvPr id="26" name="Shape 24"/>
          <p:cNvSpPr/>
          <p:nvPr/>
        </p:nvSpPr>
        <p:spPr>
          <a:xfrm>
            <a:off x="15873889" y="6604992"/>
            <a:ext cx="1252061" cy="342900"/>
          </a:xfrm>
          <a:prstGeom prst="roundRect">
            <a:avLst>
              <a:gd name="adj" fmla="val 50000"/>
            </a:avLst>
          </a:prstGeom>
          <a:solidFill>
            <a:srgbClr val="FF9E00">
              <a:alpha val="16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16045339" y="6662142"/>
            <a:ext cx="1034367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lnSpc>
                <a:spcPct val="88235"/>
              </a:lnSpc>
              <a:buNone/>
            </a:pPr>
            <a:r>
              <a:rPr lang="en-US" sz="1800" b="1" spc="7" kern="0" dirty="0">
                <a:solidFill>
                  <a:srgbClr val="FF9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조치 필요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914400" y="9345930"/>
            <a:ext cx="16459200" cy="9525"/>
          </a:xfrm>
          <a:prstGeom prst="rect">
            <a:avLst/>
          </a:prstGeom>
          <a:solidFill>
            <a:srgbClr val="F4F4F5"/>
          </a:solidFill>
          <a:ln/>
        </p:spPr>
      </p:sp>
      <p:sp>
        <p:nvSpPr>
          <p:cNvPr id="29" name="Text 27"/>
          <p:cNvSpPr/>
          <p:nvPr/>
        </p:nvSpPr>
        <p:spPr>
          <a:xfrm>
            <a:off x="914400" y="9525000"/>
            <a:ext cx="2283309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235"/>
              </a:lnSpc>
              <a:buNone/>
            </a:pPr>
            <a:r>
              <a:rPr lang="en-US" sz="1800" spc="7" kern="0" dirty="0">
                <a:solidFill>
                  <a:srgbClr val="37383C">
                    <a:alpha val="2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참조 문서: [문서 경로]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3256836" y="9525000"/>
            <a:ext cx="1873377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235"/>
              </a:lnSpc>
              <a:buNone/>
            </a:pPr>
            <a:r>
              <a:rPr lang="en-US" sz="1800" spc="7" kern="0" dirty="0">
                <a:solidFill>
                  <a:srgbClr val="37383C">
                    <a:alpha val="2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 ID: [QA-번호]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5226606" y="9525000"/>
            <a:ext cx="3980271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235"/>
              </a:lnSpc>
              <a:buNone/>
            </a:pPr>
            <a:r>
              <a:rPr lang="en-US" sz="1800" spc="7" kern="0" dirty="0">
                <a:solidFill>
                  <a:srgbClr val="37383C">
                    <a:alpha val="2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자동화 테스트: [테스트 파일/테스트명]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9111734" y="9525000"/>
            <a:ext cx="418445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235"/>
              </a:lnSpc>
              <a:buNone/>
            </a:pPr>
            <a:r>
              <a:rPr lang="en-US" sz="1800" spc="7" kern="0" dirty="0">
                <a:solidFill>
                  <a:srgbClr val="37383C">
                    <a:alpha val="2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증거: [스크린샷/API 응답/파일/DB 조회]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005840"/>
            <a:ext cx="33230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235"/>
              </a:lnSpc>
              <a:buNone/>
            </a:pPr>
            <a:r>
              <a:rPr lang="en-US" sz="1800" b="1" spc="7" kern="0" dirty="0">
                <a:solidFill>
                  <a:srgbClr val="006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322903" y="723900"/>
            <a:ext cx="5479078" cy="6423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733"/>
              </a:lnSpc>
              <a:buNone/>
            </a:pPr>
            <a:r>
              <a:rPr lang="en-US" sz="3900" b="1" spc="7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최종 판정과 사용자 승인</a:t>
            </a:r>
            <a:endParaRPr lang="en-US" sz="3900" dirty="0"/>
          </a:p>
        </p:txBody>
      </p:sp>
      <p:sp>
        <p:nvSpPr>
          <p:cNvPr id="4" name="Shape 2"/>
          <p:cNvSpPr/>
          <p:nvPr/>
        </p:nvSpPr>
        <p:spPr>
          <a:xfrm>
            <a:off x="914400" y="1632942"/>
            <a:ext cx="2807851" cy="64770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1024682" y="1842492"/>
            <a:ext cx="2587287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81081"/>
              </a:lnSpc>
              <a:buNone/>
            </a:pPr>
            <a:r>
              <a:rPr lang="en-US" sz="1950" b="1" spc="7" kern="0" dirty="0">
                <a:solidFill>
                  <a:srgbClr val="00BF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출시 가능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3874651" y="1632942"/>
            <a:ext cx="2807851" cy="64770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3984933" y="1842492"/>
            <a:ext cx="2587287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81081"/>
              </a:lnSpc>
              <a:buNone/>
            </a:pPr>
            <a:r>
              <a:rPr lang="en-US" sz="1950" b="1" spc="7" kern="0" dirty="0">
                <a:solidFill>
                  <a:srgbClr val="FF9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조건부 가능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6834902" y="1632942"/>
            <a:ext cx="2807851" cy="64770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6945184" y="1842492"/>
            <a:ext cx="2587287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81081"/>
              </a:lnSpc>
              <a:buNone/>
            </a:pPr>
            <a:r>
              <a:rPr lang="en-US" sz="1950" b="1" spc="7" kern="0" dirty="0">
                <a:solidFill>
                  <a:srgbClr val="FF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출시 불가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914400" y="2509242"/>
            <a:ext cx="8990203" cy="8058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149"/>
              </a:lnSpc>
              <a:buNone/>
            </a:pPr>
            <a:r>
              <a:rPr lang="en-US" sz="1950" spc="7" kern="0" dirty="0">
                <a:solidFill>
                  <a:srgbClr val="2E2F33">
                    <a:alpha val="8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API·데이터 무결성은 통과했으나 UI·브라우저 검증 결과에 따라 최종 판정이 결정됩니다.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914400" y="3505557"/>
            <a:ext cx="960118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235"/>
              </a:lnSpc>
              <a:buNone/>
            </a:pPr>
            <a:r>
              <a:rPr lang="en-US" sz="1800" b="1" spc="7" kern="0" dirty="0">
                <a:solidFill>
                  <a:srgbClr val="37383C">
                    <a:alpha val="61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사용자 결정 항목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14400" y="3867507"/>
            <a:ext cx="8728353" cy="533400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1123950" y="4019907"/>
            <a:ext cx="857110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081"/>
              </a:lnSpc>
              <a:buNone/>
            </a:pPr>
            <a:r>
              <a:rPr lang="en-US" sz="1950" spc="7" kern="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미검증 상태를 조건부로 수용할 것인지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914400" y="4515207"/>
            <a:ext cx="8728353" cy="533400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1123950" y="4667607"/>
            <a:ext cx="857110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081"/>
              </a:lnSpc>
              <a:buNone/>
            </a:pPr>
            <a:r>
              <a:rPr lang="en-US" sz="1950" spc="7" kern="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구현 후 브라우저 검증을 완료할 것인지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914400" y="5162908"/>
            <a:ext cx="8728353" cy="533400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1123950" y="5315308"/>
            <a:ext cx="857110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081"/>
              </a:lnSpc>
              <a:buNone/>
            </a:pPr>
            <a:r>
              <a:rPr lang="en-US" sz="1950" spc="7" kern="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남은 중간·낮은 위험을 수용할 것인지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10099953" y="1632942"/>
            <a:ext cx="7273647" cy="8120658"/>
          </a:xfrm>
          <a:prstGeom prst="roundRect">
            <a:avLst>
              <a:gd name="adj" fmla="val 1571"/>
            </a:avLst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10404753" y="1899642"/>
            <a:ext cx="733045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235"/>
              </a:lnSpc>
              <a:buNone/>
            </a:pPr>
            <a:r>
              <a:rPr lang="en-US" sz="1800" b="1" spc="7" kern="0" dirty="0">
                <a:solidFill>
                  <a:srgbClr val="37383C">
                    <a:alpha val="61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참조 문서 목록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0404753" y="2280642"/>
            <a:ext cx="733045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235"/>
              </a:lnSpc>
              <a:buNone/>
            </a:pPr>
            <a:r>
              <a:rPr lang="en-US" sz="1800" spc="7" kern="0" dirty="0">
                <a:solidFill>
                  <a:srgbClr val="37383C">
                    <a:alpha val="2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docs/00-input/원본-요구사항-RFP.md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0404753" y="2604492"/>
            <a:ext cx="6863969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235"/>
              </a:lnSpc>
              <a:buNone/>
            </a:pPr>
            <a:r>
              <a:rPr lang="en-US" sz="1800" spc="7" kern="0" dirty="0">
                <a:solidFill>
                  <a:srgbClr val="37383C">
                    <a:alpha val="2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docs/10-scope/1단계-기술-프로토타입-목표-범위-인수조건.md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0404753" y="3156942"/>
            <a:ext cx="733045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235"/>
              </a:lnSpc>
              <a:buNone/>
            </a:pPr>
            <a:r>
              <a:rPr lang="en-US" sz="1800" spc="7" kern="0" dirty="0">
                <a:solidFill>
                  <a:srgbClr val="37383C">
                    <a:alpha val="2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docs/20-design/시스템-설계.md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0404753" y="3480792"/>
            <a:ext cx="733045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235"/>
              </a:lnSpc>
              <a:buNone/>
            </a:pPr>
            <a:r>
              <a:rPr lang="en-US" sz="1800" spc="7" kern="0" dirty="0">
                <a:solidFill>
                  <a:srgbClr val="37383C">
                    <a:alpha val="2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docs/20-design/데이터-모델.md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404753" y="3804642"/>
            <a:ext cx="733045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235"/>
              </a:lnSpc>
              <a:buNone/>
            </a:pPr>
            <a:r>
              <a:rPr lang="en-US" sz="1800" spc="7" kern="0" dirty="0">
                <a:solidFill>
                  <a:srgbClr val="37383C">
                    <a:alpha val="2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docs/20-design/UX-화면-명세.md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0404753" y="4128492"/>
            <a:ext cx="733045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235"/>
              </a:lnSpc>
              <a:buNone/>
            </a:pPr>
            <a:r>
              <a:rPr lang="en-US" sz="1800" spc="7" kern="0" dirty="0">
                <a:solidFill>
                  <a:srgbClr val="37383C">
                    <a:alpha val="2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docs/40-quality/인수조건-체크리스트.md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0404753" y="4452342"/>
            <a:ext cx="733045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235"/>
              </a:lnSpc>
              <a:buNone/>
            </a:pPr>
            <a:r>
              <a:rPr lang="en-US" sz="1800" spc="7" kern="0" dirty="0">
                <a:solidFill>
                  <a:srgbClr val="37383C">
                    <a:alpha val="2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docs/40-quality/테스트-결과.md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0404753" y="4776192"/>
            <a:ext cx="733045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235"/>
              </a:lnSpc>
              <a:buNone/>
            </a:pPr>
            <a:r>
              <a:rPr lang="en-US" sz="1800" spc="7" kern="0" dirty="0">
                <a:solidFill>
                  <a:srgbClr val="37383C">
                    <a:alpha val="2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docs/40-quality/결함-목록.md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2026-08-24T05:18:59Z</dcterms:created>
  <dcterms:modified xsi:type="dcterms:W3CDTF">2026-08-24T05:18:59Z</dcterms:modified>
</cp:coreProperties>
</file>